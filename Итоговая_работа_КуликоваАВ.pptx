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5"/>
  </p:notesMasterIdLst>
  <p:sldIdLst>
    <p:sldId id="256" r:id="rId2"/>
    <p:sldId id="297" r:id="rId3"/>
    <p:sldId id="298" r:id="rId4"/>
    <p:sldId id="302" r:id="rId5"/>
    <p:sldId id="301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</p:sldIdLst>
  <p:sldSz cx="9144000" cy="5143500" type="screen16x9"/>
  <p:notesSz cx="6858000" cy="9144000"/>
  <p:embeddedFontLst>
    <p:embeddedFont>
      <p:font typeface="Anybody" panose="020B0604020202020204" charset="0"/>
      <p:regular r:id="rId16"/>
      <p:bold r:id="rId17"/>
      <p:italic r:id="rId18"/>
      <p:boldItalic r:id="rId19"/>
    </p:embeddedFont>
    <p:embeddedFont>
      <p:font typeface="Cambria Math" panose="02040503050406030204" pitchFamily="18" charset="0"/>
      <p:regular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85D1E4-3014-4252-8561-ED69AAABA03E}">
  <a:tblStyle styleId="{A585D1E4-3014-4252-8561-ED69AAABA0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B17D16-B880-48BE-9875-3CC55CCBC39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278" y="21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78bb9d625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78bb9d625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091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94225" y="1566938"/>
            <a:ext cx="4528800" cy="138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94225" y="3148763"/>
            <a:ext cx="4528800" cy="427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4" name="Google Shape;14;p2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7" name="Google Shape;17;p2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" name="Google Shape;23;p2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26" name="Google Shape;26;p2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1199050" y="2585350"/>
            <a:ext cx="5108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36" name="Google Shape;36;p3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37" name="Google Shape;37;p3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3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3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" name="Google Shape;40;p3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" name="Google Shape;42;p3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43" name="Google Shape;43;p3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" name="Google Shape;46;p3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47" name="Google Shape;47;p3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" name="Google Shape;48;p3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49" name="Google Shape;49;p3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1"/>
          </p:nvPr>
        </p:nvSpPr>
        <p:spPr>
          <a:xfrm>
            <a:off x="4163570" y="2272500"/>
            <a:ext cx="2694900" cy="16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2"/>
          </p:nvPr>
        </p:nvSpPr>
        <p:spPr>
          <a:xfrm>
            <a:off x="713225" y="2272500"/>
            <a:ext cx="2694900" cy="16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3"/>
          </p:nvPr>
        </p:nvSpPr>
        <p:spPr>
          <a:xfrm>
            <a:off x="713225" y="1791350"/>
            <a:ext cx="26949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4"/>
          </p:nvPr>
        </p:nvSpPr>
        <p:spPr>
          <a:xfrm>
            <a:off x="4163566" y="1791350"/>
            <a:ext cx="26949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5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85" name="Google Shape;85;p5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86" name="Google Shape;86;p5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9" name="Google Shape;89;p5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1" name="Google Shape;91;p5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92" name="Google Shape;92;p5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5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5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5" name="Google Shape;95;p5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96" name="Google Shape;96;p5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" name="Google Shape;97;p5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98" name="Google Shape;98;p5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5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5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5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5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915376" y="4167393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5" name="Google Shape;155;p8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56" name="Google Shape;156;p8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57" name="Google Shape;157;p8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8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8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0" name="Google Shape;160;p8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61" name="Google Shape;161;p8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2" name="Google Shape;162;p8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8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6" name="Google Shape;166;p8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67" name="Google Shape;167;p8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8" name="Google Shape;168;p8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8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8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8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"/>
          <p:cNvSpPr/>
          <p:nvPr/>
        </p:nvSpPr>
        <p:spPr>
          <a:xfrm rot="-4080314">
            <a:off x="-2065524" y="1779314"/>
            <a:ext cx="4291871" cy="2699376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79" name="Google Shape;179;p9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80" name="Google Shape;180;p9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81" name="Google Shape;181;p9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9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9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" name="Google Shape;184;p9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85" name="Google Shape;185;p9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6" name="Google Shape;186;p9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87" name="Google Shape;187;p9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9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9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0" name="Google Shape;190;p9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91" name="Google Shape;191;p9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2" name="Google Shape;192;p9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93" name="Google Shape;193;p9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9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9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9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9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"/>
          <p:cNvSpPr/>
          <p:nvPr/>
        </p:nvSpPr>
        <p:spPr>
          <a:xfrm rot="606218">
            <a:off x="316691" y="4397046"/>
            <a:ext cx="3362038" cy="2114466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6332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8" name="Google Shape;228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13"/>
          <p:cNvSpPr txBox="1">
            <a:spLocks noGrp="1"/>
          </p:cNvSpPr>
          <p:nvPr>
            <p:ph type="title" idx="3" hasCustomPrompt="1"/>
          </p:nvPr>
        </p:nvSpPr>
        <p:spPr>
          <a:xfrm>
            <a:off x="3419275" y="16332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0" name="Google Shape;230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1" name="Google Shape;231;p13"/>
          <p:cNvSpPr txBox="1">
            <a:spLocks noGrp="1"/>
          </p:cNvSpPr>
          <p:nvPr>
            <p:ph type="title" idx="5" hasCustomPrompt="1"/>
          </p:nvPr>
        </p:nvSpPr>
        <p:spPr>
          <a:xfrm>
            <a:off x="6118550" y="16332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2" name="Google Shape;232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3" name="Google Shape;233;p13"/>
          <p:cNvSpPr txBox="1">
            <a:spLocks noGrp="1"/>
          </p:cNvSpPr>
          <p:nvPr>
            <p:ph type="subTitle" idx="1"/>
          </p:nvPr>
        </p:nvSpPr>
        <p:spPr>
          <a:xfrm>
            <a:off x="720000" y="20648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subTitle" idx="7"/>
          </p:nvPr>
        </p:nvSpPr>
        <p:spPr>
          <a:xfrm>
            <a:off x="3419275" y="20648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5" name="Google Shape;235;p13"/>
          <p:cNvSpPr txBox="1">
            <a:spLocks noGrp="1"/>
          </p:cNvSpPr>
          <p:nvPr>
            <p:ph type="subTitle" idx="8"/>
          </p:nvPr>
        </p:nvSpPr>
        <p:spPr>
          <a:xfrm>
            <a:off x="6118550" y="20648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subTitle" idx="9"/>
          </p:nvPr>
        </p:nvSpPr>
        <p:spPr>
          <a:xfrm>
            <a:off x="72000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13"/>
          </p:nvPr>
        </p:nvSpPr>
        <p:spPr>
          <a:xfrm>
            <a:off x="34192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14"/>
          </p:nvPr>
        </p:nvSpPr>
        <p:spPr>
          <a:xfrm>
            <a:off x="61185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title" idx="15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0" name="Google Shape;240;p13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41" name="Google Shape;241;p13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42" name="Google Shape;242;p13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" name="Google Shape;243;p13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" name="Google Shape;244;p13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5" name="Google Shape;245;p13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46" name="Google Shape;246;p13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7" name="Google Shape;247;p13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48" name="Google Shape;248;p13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13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13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1" name="Google Shape;251;p13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252" name="Google Shape;252;p13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3" name="Google Shape;253;p13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254" name="Google Shape;254;p13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13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13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57;p13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58;p13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4"/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4"/>
          <p:cNvSpPr/>
          <p:nvPr/>
        </p:nvSpPr>
        <p:spPr>
          <a:xfrm rot="606218">
            <a:off x="1834016" y="-1630854"/>
            <a:ext cx="3362038" cy="2114466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14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64" name="Google Shape;264;p14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65" name="Google Shape;265;p14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6" name="Google Shape;266;p14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14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8" name="Google Shape;268;p14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69" name="Google Shape;269;p14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0" name="Google Shape;270;p14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71" name="Google Shape;271;p14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4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14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74" name="Google Shape;274;p14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275" name="Google Shape;275;p14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6" name="Google Shape;276;p14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277" name="Google Shape;277;p14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14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14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14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14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"/>
          <p:cNvSpPr/>
          <p:nvPr/>
        </p:nvSpPr>
        <p:spPr>
          <a:xfrm rot="3318019">
            <a:off x="-2389681" y="3047167"/>
            <a:ext cx="3362172" cy="2114406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8"/>
          <p:cNvSpPr txBox="1">
            <a:spLocks noGrp="1"/>
          </p:cNvSpPr>
          <p:nvPr>
            <p:ph type="subTitle" idx="1"/>
          </p:nvPr>
        </p:nvSpPr>
        <p:spPr>
          <a:xfrm>
            <a:off x="714525" y="1851931"/>
            <a:ext cx="2570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18"/>
          <p:cNvSpPr txBox="1">
            <a:spLocks noGrp="1"/>
          </p:cNvSpPr>
          <p:nvPr>
            <p:ph type="subTitle" idx="2"/>
          </p:nvPr>
        </p:nvSpPr>
        <p:spPr>
          <a:xfrm>
            <a:off x="3284865" y="1851940"/>
            <a:ext cx="2570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18"/>
          <p:cNvSpPr txBox="1">
            <a:spLocks noGrp="1"/>
          </p:cNvSpPr>
          <p:nvPr>
            <p:ph type="subTitle" idx="3"/>
          </p:nvPr>
        </p:nvSpPr>
        <p:spPr>
          <a:xfrm>
            <a:off x="713925" y="3377632"/>
            <a:ext cx="2570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18"/>
          <p:cNvSpPr txBox="1">
            <a:spLocks noGrp="1"/>
          </p:cNvSpPr>
          <p:nvPr>
            <p:ph type="subTitle" idx="4"/>
          </p:nvPr>
        </p:nvSpPr>
        <p:spPr>
          <a:xfrm>
            <a:off x="3284261" y="3377632"/>
            <a:ext cx="2570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18"/>
          <p:cNvSpPr txBox="1">
            <a:spLocks noGrp="1"/>
          </p:cNvSpPr>
          <p:nvPr>
            <p:ph type="subTitle" idx="5"/>
          </p:nvPr>
        </p:nvSpPr>
        <p:spPr>
          <a:xfrm>
            <a:off x="5855198" y="1851940"/>
            <a:ext cx="2570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18"/>
          <p:cNvSpPr txBox="1">
            <a:spLocks noGrp="1"/>
          </p:cNvSpPr>
          <p:nvPr>
            <p:ph type="subTitle" idx="6"/>
          </p:nvPr>
        </p:nvSpPr>
        <p:spPr>
          <a:xfrm>
            <a:off x="5854598" y="3377632"/>
            <a:ext cx="2570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18"/>
          <p:cNvSpPr txBox="1">
            <a:spLocks noGrp="1"/>
          </p:cNvSpPr>
          <p:nvPr>
            <p:ph type="subTitle" idx="7"/>
          </p:nvPr>
        </p:nvSpPr>
        <p:spPr>
          <a:xfrm>
            <a:off x="714525" y="1434682"/>
            <a:ext cx="25704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75" name="Google Shape;375;p18"/>
          <p:cNvSpPr txBox="1">
            <a:spLocks noGrp="1"/>
          </p:cNvSpPr>
          <p:nvPr>
            <p:ph type="subTitle" idx="8"/>
          </p:nvPr>
        </p:nvSpPr>
        <p:spPr>
          <a:xfrm>
            <a:off x="3284713" y="1434688"/>
            <a:ext cx="25704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76" name="Google Shape;376;p18"/>
          <p:cNvSpPr txBox="1">
            <a:spLocks noGrp="1"/>
          </p:cNvSpPr>
          <p:nvPr>
            <p:ph type="subTitle" idx="9"/>
          </p:nvPr>
        </p:nvSpPr>
        <p:spPr>
          <a:xfrm>
            <a:off x="5860277" y="1434688"/>
            <a:ext cx="25704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77" name="Google Shape;377;p18"/>
          <p:cNvSpPr txBox="1">
            <a:spLocks noGrp="1"/>
          </p:cNvSpPr>
          <p:nvPr>
            <p:ph type="subTitle" idx="13"/>
          </p:nvPr>
        </p:nvSpPr>
        <p:spPr>
          <a:xfrm>
            <a:off x="713925" y="2957131"/>
            <a:ext cx="25701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78" name="Google Shape;378;p18"/>
          <p:cNvSpPr txBox="1">
            <a:spLocks noGrp="1"/>
          </p:cNvSpPr>
          <p:nvPr>
            <p:ph type="subTitle" idx="14"/>
          </p:nvPr>
        </p:nvSpPr>
        <p:spPr>
          <a:xfrm>
            <a:off x="3284113" y="2957131"/>
            <a:ext cx="25704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79" name="Google Shape;379;p18"/>
          <p:cNvSpPr txBox="1">
            <a:spLocks noGrp="1"/>
          </p:cNvSpPr>
          <p:nvPr>
            <p:ph type="subTitle" idx="15"/>
          </p:nvPr>
        </p:nvSpPr>
        <p:spPr>
          <a:xfrm>
            <a:off x="5859677" y="2957131"/>
            <a:ext cx="2570400" cy="4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80" name="Google Shape;380;p18"/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81" name="Google Shape;381;p18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382" name="Google Shape;382;p18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383" name="Google Shape;383;p18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8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8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86" name="Google Shape;386;p18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387" name="Google Shape;387;p18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8" name="Google Shape;388;p18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389" name="Google Shape;389;p18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" name="Google Shape;390;p18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18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18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393" name="Google Shape;393;p18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4" name="Google Shape;394;p18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95" name="Google Shape;395;p18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" name="Google Shape;396;p18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397;p18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398;p18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399;p18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1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1"/>
          <p:cNvSpPr/>
          <p:nvPr/>
        </p:nvSpPr>
        <p:spPr>
          <a:xfrm rot="1917429">
            <a:off x="-740302" y="3859619"/>
            <a:ext cx="3362272" cy="2114379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21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456" name="Google Shape;456;p21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21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21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60" name="Google Shape;460;p21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461" name="Google Shape;461;p21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2" name="Google Shape;462;p21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463" name="Google Shape;463;p21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21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21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6" name="Google Shape;466;p21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467" name="Google Shape;467;p21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8" name="Google Shape;468;p21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469" name="Google Shape;469;p21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" name="Google Shape;470;p21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471;p21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" name="Google Shape;472;p21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473;p21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6" r:id="rId6"/>
    <p:sldLayoutId id="2147483659" r:id="rId7"/>
    <p:sldLayoutId id="2147483660" r:id="rId8"/>
    <p:sldLayoutId id="2147483664" r:id="rId9"/>
    <p:sldLayoutId id="214748366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289;p61">
            <a:extLst>
              <a:ext uri="{FF2B5EF4-FFF2-40B4-BE49-F238E27FC236}">
                <a16:creationId xmlns:a16="http://schemas.microsoft.com/office/drawing/2014/main" id="{32FE2755-5659-FE2A-4D52-2F585D9BBC09}"/>
              </a:ext>
            </a:extLst>
          </p:cNvPr>
          <p:cNvGrpSpPr/>
          <p:nvPr/>
        </p:nvGrpSpPr>
        <p:grpSpPr>
          <a:xfrm>
            <a:off x="90334" y="1405594"/>
            <a:ext cx="1951893" cy="1858566"/>
            <a:chOff x="1754279" y="4286593"/>
            <a:chExt cx="351439" cy="345965"/>
          </a:xfrm>
          <a:noFill/>
        </p:grpSpPr>
        <p:sp>
          <p:nvSpPr>
            <p:cNvPr id="11" name="Google Shape;10290;p61">
              <a:extLst>
                <a:ext uri="{FF2B5EF4-FFF2-40B4-BE49-F238E27FC236}">
                  <a16:creationId xmlns:a16="http://schemas.microsoft.com/office/drawing/2014/main" id="{73CA7AB8-192A-39B5-4005-B4905A819448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291;p61">
              <a:extLst>
                <a:ext uri="{FF2B5EF4-FFF2-40B4-BE49-F238E27FC236}">
                  <a16:creationId xmlns:a16="http://schemas.microsoft.com/office/drawing/2014/main" id="{7ACAE2AE-87CF-68B5-94AE-23C0A5AF849B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292;p61">
              <a:extLst>
                <a:ext uri="{FF2B5EF4-FFF2-40B4-BE49-F238E27FC236}">
                  <a16:creationId xmlns:a16="http://schemas.microsoft.com/office/drawing/2014/main" id="{9DB8A8FF-2A54-E3B4-AEFE-FF3AA9096A3A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293;p61">
              <a:extLst>
                <a:ext uri="{FF2B5EF4-FFF2-40B4-BE49-F238E27FC236}">
                  <a16:creationId xmlns:a16="http://schemas.microsoft.com/office/drawing/2014/main" id="{2ED015CA-D124-F220-3293-18C64C460940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294;p61">
              <a:extLst>
                <a:ext uri="{FF2B5EF4-FFF2-40B4-BE49-F238E27FC236}">
                  <a16:creationId xmlns:a16="http://schemas.microsoft.com/office/drawing/2014/main" id="{0DE90F01-5453-9CBA-A4C5-5D54C8BD517B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370;p53" descr="Timeline background shape">
            <a:extLst>
              <a:ext uri="{FF2B5EF4-FFF2-40B4-BE49-F238E27FC236}">
                <a16:creationId xmlns:a16="http://schemas.microsoft.com/office/drawing/2014/main" id="{7D13C620-2166-4A05-8A05-BCC3C23631C9}"/>
              </a:ext>
            </a:extLst>
          </p:cNvPr>
          <p:cNvSpPr/>
          <p:nvPr/>
        </p:nvSpPr>
        <p:spPr>
          <a:xfrm>
            <a:off x="663819" y="1450023"/>
            <a:ext cx="8110904" cy="776973"/>
          </a:xfrm>
          <a:prstGeom prst="homePlate">
            <a:avLst>
              <a:gd name="adj" fmla="val 50000"/>
            </a:avLst>
          </a:prstGeom>
          <a:solidFill>
            <a:schemeClr val="tx2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6" name="Google Shape;506;p26"/>
          <p:cNvSpPr txBox="1">
            <a:spLocks noGrp="1"/>
          </p:cNvSpPr>
          <p:nvPr>
            <p:ph type="ctrTitle"/>
          </p:nvPr>
        </p:nvSpPr>
        <p:spPr>
          <a:xfrm>
            <a:off x="343765" y="1045719"/>
            <a:ext cx="5720782" cy="3780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Микросервисная платформа для продажи спутниковых продуктов</a:t>
            </a:r>
            <a:endParaRPr sz="14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7" name="Google Shape;507;p26"/>
          <p:cNvSpPr txBox="1">
            <a:spLocks noGrp="1"/>
          </p:cNvSpPr>
          <p:nvPr>
            <p:ph type="subTitle" idx="1"/>
          </p:nvPr>
        </p:nvSpPr>
        <p:spPr>
          <a:xfrm>
            <a:off x="4407005" y="2272190"/>
            <a:ext cx="3836596" cy="104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Разработка платформы с поддержкой заказов, внутреннего биллинга в </a:t>
            </a:r>
            <a:r>
              <a:rPr lang="ru-RU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геокредитах</a:t>
            </a:r>
            <a:r>
              <a:rPr lang="ru-RU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и асинхронной оплаты через брокер сообщений</a:t>
            </a:r>
            <a:endParaRPr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8" name="Google Shape;508;p26"/>
          <p:cNvSpPr/>
          <p:nvPr/>
        </p:nvSpPr>
        <p:spPr>
          <a:xfrm rot="-1563061">
            <a:off x="6284801" y="3140198"/>
            <a:ext cx="4291947" cy="2699489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9" name="Google Shape;509;p26"/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10" name="Google Shape;510;p26">
              <a:hlinkClick r:id="" action="ppaction://hlinkshowjump?jump=nextslide"/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1" name="Google Shape;511;p26">
              <a:hlinkClick r:id="" action="ppaction://hlinkshowjump?jump=nextslide"/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Google Shape;506;p26">
            <a:extLst>
              <a:ext uri="{FF2B5EF4-FFF2-40B4-BE49-F238E27FC236}">
                <a16:creationId xmlns:a16="http://schemas.microsoft.com/office/drawing/2014/main" id="{3B8EA6C8-F8F3-FC7D-931B-3538206BC663}"/>
              </a:ext>
            </a:extLst>
          </p:cNvPr>
          <p:cNvSpPr txBox="1">
            <a:spLocks/>
          </p:cNvSpPr>
          <p:nvPr/>
        </p:nvSpPr>
        <p:spPr>
          <a:xfrm>
            <a:off x="755790" y="1934254"/>
            <a:ext cx="7302429" cy="378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nybody"/>
              <a:buNone/>
              <a:defRPr sz="48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nybody"/>
              <a:buNone/>
              <a:defRPr sz="5200" b="1" i="0" u="none" strike="noStrike" cap="none">
                <a:solidFill>
                  <a:srgbClr val="191919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nybody"/>
              <a:buNone/>
              <a:defRPr sz="5200" b="1" i="0" u="none" strike="noStrike" cap="none">
                <a:solidFill>
                  <a:srgbClr val="191919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nybody"/>
              <a:buNone/>
              <a:defRPr sz="5200" b="1" i="0" u="none" strike="noStrike" cap="none">
                <a:solidFill>
                  <a:srgbClr val="191919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nybody"/>
              <a:buNone/>
              <a:defRPr sz="5200" b="1" i="0" u="none" strike="noStrike" cap="none">
                <a:solidFill>
                  <a:srgbClr val="191919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nybody"/>
              <a:buNone/>
              <a:defRPr sz="5200" b="1" i="0" u="none" strike="noStrike" cap="none">
                <a:solidFill>
                  <a:srgbClr val="191919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nybody"/>
              <a:buNone/>
              <a:defRPr sz="5200" b="1" i="0" u="none" strike="noStrike" cap="none">
                <a:solidFill>
                  <a:srgbClr val="191919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nybody"/>
              <a:buNone/>
              <a:defRPr sz="5200" b="1" i="0" u="none" strike="noStrike" cap="none">
                <a:solidFill>
                  <a:srgbClr val="191919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nybody"/>
              <a:buNone/>
              <a:defRPr sz="5200" b="1" i="0" u="none" strike="noStrike" cap="none">
                <a:solidFill>
                  <a:srgbClr val="191919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-US" sz="5400" dirty="0">
                <a:solidFill>
                  <a:schemeClr val="bg1"/>
                </a:solidFill>
              </a:rPr>
              <a:t>ORBITAMARKET </a:t>
            </a:r>
            <a:endParaRPr lang="ru-RU" sz="5400" b="0" dirty="0">
              <a:solidFill>
                <a:schemeClr val="bg1"/>
              </a:solidFill>
            </a:endParaRPr>
          </a:p>
        </p:txBody>
      </p:sp>
      <p:grpSp>
        <p:nvGrpSpPr>
          <p:cNvPr id="4" name="Google Shape;10289;p61">
            <a:extLst>
              <a:ext uri="{FF2B5EF4-FFF2-40B4-BE49-F238E27FC236}">
                <a16:creationId xmlns:a16="http://schemas.microsoft.com/office/drawing/2014/main" id="{97887303-1DCC-896A-7007-ABB0488D4B85}"/>
              </a:ext>
            </a:extLst>
          </p:cNvPr>
          <p:cNvGrpSpPr/>
          <p:nvPr/>
        </p:nvGrpSpPr>
        <p:grpSpPr>
          <a:xfrm rot="3744607">
            <a:off x="6377977" y="833142"/>
            <a:ext cx="1659625" cy="1633776"/>
            <a:chOff x="1754279" y="4286593"/>
            <a:chExt cx="351439" cy="345965"/>
          </a:xfrm>
          <a:noFill/>
        </p:grpSpPr>
        <p:sp>
          <p:nvSpPr>
            <p:cNvPr id="5" name="Google Shape;10290;p61">
              <a:extLst>
                <a:ext uri="{FF2B5EF4-FFF2-40B4-BE49-F238E27FC236}">
                  <a16:creationId xmlns:a16="http://schemas.microsoft.com/office/drawing/2014/main" id="{68B8DF34-FA7E-E9A0-6C43-BDADCEB578BD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291;p61">
              <a:extLst>
                <a:ext uri="{FF2B5EF4-FFF2-40B4-BE49-F238E27FC236}">
                  <a16:creationId xmlns:a16="http://schemas.microsoft.com/office/drawing/2014/main" id="{2D8651DD-B8F4-49DC-D4F0-AA7DEE017026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292;p61">
              <a:extLst>
                <a:ext uri="{FF2B5EF4-FFF2-40B4-BE49-F238E27FC236}">
                  <a16:creationId xmlns:a16="http://schemas.microsoft.com/office/drawing/2014/main" id="{651615F2-1771-3F17-694A-7685B9C67B67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293;p61">
              <a:extLst>
                <a:ext uri="{FF2B5EF4-FFF2-40B4-BE49-F238E27FC236}">
                  <a16:creationId xmlns:a16="http://schemas.microsoft.com/office/drawing/2014/main" id="{32EB64AC-DDE0-B0C5-4570-B1C24D2DD0A3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294;p61">
              <a:extLst>
                <a:ext uri="{FF2B5EF4-FFF2-40B4-BE49-F238E27FC236}">
                  <a16:creationId xmlns:a16="http://schemas.microsoft.com/office/drawing/2014/main" id="{50298B4F-C897-FB1F-0D10-16788D705BA1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85AC02F-117E-125C-11B8-7E045B8ABD02}"/>
              </a:ext>
            </a:extLst>
          </p:cNvPr>
          <p:cNvSpPr txBox="1"/>
          <p:nvPr/>
        </p:nvSpPr>
        <p:spPr>
          <a:xfrm>
            <a:off x="7517104" y="4436652"/>
            <a:ext cx="1598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2026 год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0820CC-2116-E33C-0A86-7DE16231F5EE}"/>
              </a:ext>
            </a:extLst>
          </p:cNvPr>
          <p:cNvSpPr txBox="1"/>
          <p:nvPr/>
        </p:nvSpPr>
        <p:spPr>
          <a:xfrm>
            <a:off x="453690" y="4395500"/>
            <a:ext cx="52270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Куликова Алёна Владимировна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B885B2-C842-1E9A-6280-C4E1A5A1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70" y="1227217"/>
            <a:ext cx="1342376" cy="447600"/>
          </a:xfrm>
        </p:spPr>
        <p:txBody>
          <a:bodyPr/>
          <a:lstStyle/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 ПРОЕКТЕ</a:t>
            </a:r>
          </a:p>
        </p:txBody>
      </p:sp>
      <p:grpSp>
        <p:nvGrpSpPr>
          <p:cNvPr id="15" name="Google Shape;8687;p58">
            <a:extLst>
              <a:ext uri="{FF2B5EF4-FFF2-40B4-BE49-F238E27FC236}">
                <a16:creationId xmlns:a16="http://schemas.microsoft.com/office/drawing/2014/main" id="{27D7BE7C-6083-39A1-27EF-2FB7864A068A}"/>
              </a:ext>
            </a:extLst>
          </p:cNvPr>
          <p:cNvGrpSpPr/>
          <p:nvPr/>
        </p:nvGrpSpPr>
        <p:grpSpPr>
          <a:xfrm>
            <a:off x="559565" y="2118947"/>
            <a:ext cx="8024869" cy="694592"/>
            <a:chOff x="3465975" y="2270276"/>
            <a:chExt cx="1986364" cy="171929"/>
          </a:xfrm>
          <a:solidFill>
            <a:schemeClr val="tx2"/>
          </a:solidFill>
        </p:grpSpPr>
        <p:sp>
          <p:nvSpPr>
            <p:cNvPr id="16" name="Google Shape;8688;p58">
              <a:extLst>
                <a:ext uri="{FF2B5EF4-FFF2-40B4-BE49-F238E27FC236}">
                  <a16:creationId xmlns:a16="http://schemas.microsoft.com/office/drawing/2014/main" id="{62245543-655A-BCF0-7C82-89D979AF37AE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8689;p58">
              <a:extLst>
                <a:ext uri="{FF2B5EF4-FFF2-40B4-BE49-F238E27FC236}">
                  <a16:creationId xmlns:a16="http://schemas.microsoft.com/office/drawing/2014/main" id="{027139D7-BE50-9078-CCE1-713FE7D23279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8690;p58">
              <a:extLst>
                <a:ext uri="{FF2B5EF4-FFF2-40B4-BE49-F238E27FC236}">
                  <a16:creationId xmlns:a16="http://schemas.microsoft.com/office/drawing/2014/main" id="{7D0C2A29-3D9E-1EAD-C798-19A6D590F79A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691;p58">
              <a:extLst>
                <a:ext uri="{FF2B5EF4-FFF2-40B4-BE49-F238E27FC236}">
                  <a16:creationId xmlns:a16="http://schemas.microsoft.com/office/drawing/2014/main" id="{BE9997F3-4559-2DAF-11D6-40A39D9A7F0D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8692;p58">
              <a:extLst>
                <a:ext uri="{FF2B5EF4-FFF2-40B4-BE49-F238E27FC236}">
                  <a16:creationId xmlns:a16="http://schemas.microsoft.com/office/drawing/2014/main" id="{F832874C-15C7-BFD6-79D7-FDB1D2176004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grp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693;p58">
              <a:extLst>
                <a:ext uri="{FF2B5EF4-FFF2-40B4-BE49-F238E27FC236}">
                  <a16:creationId xmlns:a16="http://schemas.microsoft.com/office/drawing/2014/main" id="{97849022-854F-F4BF-B072-64D6CB251C0C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694;p58">
              <a:extLst>
                <a:ext uri="{FF2B5EF4-FFF2-40B4-BE49-F238E27FC236}">
                  <a16:creationId xmlns:a16="http://schemas.microsoft.com/office/drawing/2014/main" id="{C09A4C34-07D6-0F2E-1F11-4B6BEABF2598}"/>
                </a:ext>
              </a:extLst>
            </p:cNvPr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695;p58">
              <a:extLst>
                <a:ext uri="{FF2B5EF4-FFF2-40B4-BE49-F238E27FC236}">
                  <a16:creationId xmlns:a16="http://schemas.microsoft.com/office/drawing/2014/main" id="{5E448E7F-5D9E-66F2-9FFC-50736EE0DA47}"/>
                </a:ext>
              </a:extLst>
            </p:cNvPr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B12DDD19-A69C-1376-9EAF-6420E2B7EC81}"/>
              </a:ext>
            </a:extLst>
          </p:cNvPr>
          <p:cNvSpPr txBox="1">
            <a:spLocks/>
          </p:cNvSpPr>
          <p:nvPr/>
        </p:nvSpPr>
        <p:spPr>
          <a:xfrm>
            <a:off x="1351156" y="3280241"/>
            <a:ext cx="1501947" cy="52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ОСОБЕННОСТИ РЕАЛИЗАЦИИ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C91621AF-1EE6-77D5-CF23-EBBBC240B009}"/>
              </a:ext>
            </a:extLst>
          </p:cNvPr>
          <p:cNvSpPr txBox="1">
            <a:spLocks/>
          </p:cNvSpPr>
          <p:nvPr/>
        </p:nvSpPr>
        <p:spPr>
          <a:xfrm>
            <a:off x="2427926" y="1340583"/>
            <a:ext cx="1501947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ЭТАПЫ И СРОКИ РАЗРАБОТКИ</a:t>
            </a: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C0FD822C-E564-37FF-71F6-5970810A18B1}"/>
              </a:ext>
            </a:extLst>
          </p:cNvPr>
          <p:cNvSpPr txBox="1">
            <a:spLocks/>
          </p:cNvSpPr>
          <p:nvPr/>
        </p:nvSpPr>
        <p:spPr>
          <a:xfrm>
            <a:off x="3485116" y="3345386"/>
            <a:ext cx="1451765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СОБСТВЕННЫЕ ИДЕИ</a:t>
            </a:r>
          </a:p>
        </p:txBody>
      </p:sp>
      <p:sp>
        <p:nvSpPr>
          <p:cNvPr id="35" name="Заголовок 1">
            <a:extLst>
              <a:ext uri="{FF2B5EF4-FFF2-40B4-BE49-F238E27FC236}">
                <a16:creationId xmlns:a16="http://schemas.microsoft.com/office/drawing/2014/main" id="{8FAA48F2-B29C-CD15-2936-30E770380801}"/>
              </a:ext>
            </a:extLst>
          </p:cNvPr>
          <p:cNvSpPr txBox="1">
            <a:spLocks/>
          </p:cNvSpPr>
          <p:nvPr/>
        </p:nvSpPr>
        <p:spPr>
          <a:xfrm>
            <a:off x="4426499" y="1340583"/>
            <a:ext cx="1710621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ВЗАИМОДЕЙСТВИЕ МИКРОСЕРВИСОВ</a:t>
            </a:r>
          </a:p>
        </p:txBody>
      </p:sp>
      <p:sp>
        <p:nvSpPr>
          <p:cNvPr id="36" name="Заголовок 1">
            <a:extLst>
              <a:ext uri="{FF2B5EF4-FFF2-40B4-BE49-F238E27FC236}">
                <a16:creationId xmlns:a16="http://schemas.microsoft.com/office/drawing/2014/main" id="{3A9F4786-670E-6707-D829-33CE2D33023E}"/>
              </a:ext>
            </a:extLst>
          </p:cNvPr>
          <p:cNvSpPr txBox="1">
            <a:spLocks/>
          </p:cNvSpPr>
          <p:nvPr/>
        </p:nvSpPr>
        <p:spPr>
          <a:xfrm>
            <a:off x="5521970" y="3335848"/>
            <a:ext cx="1936134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ПРОТЕСТИРОВАННЫЕ СЦЕНАРИИ</a:t>
            </a:r>
          </a:p>
        </p:txBody>
      </p:sp>
      <p:sp>
        <p:nvSpPr>
          <p:cNvPr id="37" name="Заголовок 1">
            <a:extLst>
              <a:ext uri="{FF2B5EF4-FFF2-40B4-BE49-F238E27FC236}">
                <a16:creationId xmlns:a16="http://schemas.microsoft.com/office/drawing/2014/main" id="{6FEFD087-5FCB-5A7B-13F2-1C4D972A1318}"/>
              </a:ext>
            </a:extLst>
          </p:cNvPr>
          <p:cNvSpPr txBox="1">
            <a:spLocks/>
          </p:cNvSpPr>
          <p:nvPr/>
        </p:nvSpPr>
        <p:spPr>
          <a:xfrm>
            <a:off x="6789000" y="1340583"/>
            <a:ext cx="163537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ПРОБЛЕМЫ БЕЗОПАСНОСТИ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779CA27D-B93C-8E70-2AB5-BD89249DE570}"/>
              </a:ext>
            </a:extLst>
          </p:cNvPr>
          <p:cNvSpPr txBox="1">
            <a:spLocks/>
          </p:cNvSpPr>
          <p:nvPr/>
        </p:nvSpPr>
        <p:spPr>
          <a:xfrm>
            <a:off x="7682940" y="3486860"/>
            <a:ext cx="1304233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ПЛАН ДОРАБОТКИ ДО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MVP</a:t>
            </a:r>
            <a:endParaRPr lang="ru-RU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E12FC5C7-1F89-66E1-39D1-5B0E3F861543}"/>
              </a:ext>
            </a:extLst>
          </p:cNvPr>
          <p:cNvCxnSpPr/>
          <p:nvPr/>
        </p:nvCxnSpPr>
        <p:spPr>
          <a:xfrm flipV="1">
            <a:off x="879231" y="1754065"/>
            <a:ext cx="0" cy="285750"/>
          </a:xfrm>
          <a:prstGeom prst="line">
            <a:avLst/>
          </a:prstGeom>
          <a:ln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F498FEE-A86E-1FE0-C81D-F23573B5A4C0}"/>
              </a:ext>
            </a:extLst>
          </p:cNvPr>
          <p:cNvCxnSpPr/>
          <p:nvPr/>
        </p:nvCxnSpPr>
        <p:spPr>
          <a:xfrm flipV="1">
            <a:off x="1950427" y="2869892"/>
            <a:ext cx="0" cy="285750"/>
          </a:xfrm>
          <a:prstGeom prst="line">
            <a:avLst/>
          </a:prstGeom>
          <a:ln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D77C1ACB-986C-07E7-3774-3976C8F8A491}"/>
              </a:ext>
            </a:extLst>
          </p:cNvPr>
          <p:cNvCxnSpPr/>
          <p:nvPr/>
        </p:nvCxnSpPr>
        <p:spPr>
          <a:xfrm flipV="1">
            <a:off x="2996712" y="1754065"/>
            <a:ext cx="0" cy="285750"/>
          </a:xfrm>
          <a:prstGeom prst="line">
            <a:avLst/>
          </a:prstGeom>
          <a:ln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E5A83F38-B9E6-7045-224B-B01AF5F7DDC8}"/>
              </a:ext>
            </a:extLst>
          </p:cNvPr>
          <p:cNvCxnSpPr/>
          <p:nvPr/>
        </p:nvCxnSpPr>
        <p:spPr>
          <a:xfrm flipV="1">
            <a:off x="4034204" y="2869892"/>
            <a:ext cx="0" cy="285750"/>
          </a:xfrm>
          <a:prstGeom prst="line">
            <a:avLst/>
          </a:prstGeom>
          <a:ln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0DD6A945-09EA-DB02-496F-34EC6356C9FD}"/>
              </a:ext>
            </a:extLst>
          </p:cNvPr>
          <p:cNvCxnSpPr/>
          <p:nvPr/>
        </p:nvCxnSpPr>
        <p:spPr>
          <a:xfrm flipV="1">
            <a:off x="5078379" y="1754065"/>
            <a:ext cx="0" cy="285750"/>
          </a:xfrm>
          <a:prstGeom prst="line">
            <a:avLst/>
          </a:prstGeom>
          <a:ln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AAD79B76-6B1F-CF9F-6A35-E3F0B113A493}"/>
              </a:ext>
            </a:extLst>
          </p:cNvPr>
          <p:cNvCxnSpPr/>
          <p:nvPr/>
        </p:nvCxnSpPr>
        <p:spPr>
          <a:xfrm flipV="1">
            <a:off x="6149575" y="2869892"/>
            <a:ext cx="0" cy="285750"/>
          </a:xfrm>
          <a:prstGeom prst="line">
            <a:avLst/>
          </a:prstGeom>
          <a:ln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564B65CC-8B7B-5BB8-546C-D226C0E70A09}"/>
              </a:ext>
            </a:extLst>
          </p:cNvPr>
          <p:cNvCxnSpPr/>
          <p:nvPr/>
        </p:nvCxnSpPr>
        <p:spPr>
          <a:xfrm flipV="1">
            <a:off x="7195860" y="1754065"/>
            <a:ext cx="0" cy="285750"/>
          </a:xfrm>
          <a:prstGeom prst="line">
            <a:avLst/>
          </a:prstGeom>
          <a:ln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C7002939-3EB2-D5C8-FC12-F411625D3CA4}"/>
              </a:ext>
            </a:extLst>
          </p:cNvPr>
          <p:cNvCxnSpPr/>
          <p:nvPr/>
        </p:nvCxnSpPr>
        <p:spPr>
          <a:xfrm flipV="1">
            <a:off x="8233352" y="2869892"/>
            <a:ext cx="0" cy="285750"/>
          </a:xfrm>
          <a:prstGeom prst="line">
            <a:avLst/>
          </a:prstGeom>
          <a:ln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oogle Shape;10289;p61">
            <a:extLst>
              <a:ext uri="{FF2B5EF4-FFF2-40B4-BE49-F238E27FC236}">
                <a16:creationId xmlns:a16="http://schemas.microsoft.com/office/drawing/2014/main" id="{5C30D68A-A81A-248C-75B4-A10227AF95EB}"/>
              </a:ext>
            </a:extLst>
          </p:cNvPr>
          <p:cNvGrpSpPr/>
          <p:nvPr/>
        </p:nvGrpSpPr>
        <p:grpSpPr>
          <a:xfrm rot="617228">
            <a:off x="8619578" y="4711947"/>
            <a:ext cx="439989" cy="433136"/>
            <a:chOff x="1754279" y="4286593"/>
            <a:chExt cx="351439" cy="345965"/>
          </a:xfrm>
          <a:noFill/>
        </p:grpSpPr>
        <p:sp>
          <p:nvSpPr>
            <p:cNvPr id="49" name="Google Shape;10290;p61">
              <a:extLst>
                <a:ext uri="{FF2B5EF4-FFF2-40B4-BE49-F238E27FC236}">
                  <a16:creationId xmlns:a16="http://schemas.microsoft.com/office/drawing/2014/main" id="{D039A05B-9F70-9FD0-188C-D946A2BD7564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291;p61">
              <a:extLst>
                <a:ext uri="{FF2B5EF4-FFF2-40B4-BE49-F238E27FC236}">
                  <a16:creationId xmlns:a16="http://schemas.microsoft.com/office/drawing/2014/main" id="{3858CE51-2794-12C5-1D03-9923D9E98BA6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292;p61">
              <a:extLst>
                <a:ext uri="{FF2B5EF4-FFF2-40B4-BE49-F238E27FC236}">
                  <a16:creationId xmlns:a16="http://schemas.microsoft.com/office/drawing/2014/main" id="{89165C34-0438-07F0-1F35-E44C148EB5A0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293;p61">
              <a:extLst>
                <a:ext uri="{FF2B5EF4-FFF2-40B4-BE49-F238E27FC236}">
                  <a16:creationId xmlns:a16="http://schemas.microsoft.com/office/drawing/2014/main" id="{0411F4E3-42C2-3FCA-1B92-A29F6AEFAA1A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294;p61">
              <a:extLst>
                <a:ext uri="{FF2B5EF4-FFF2-40B4-BE49-F238E27FC236}">
                  <a16:creationId xmlns:a16="http://schemas.microsoft.com/office/drawing/2014/main" id="{0E970695-A44B-5DE5-16DE-22078DCFF28C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8687;p58">
            <a:extLst>
              <a:ext uri="{FF2B5EF4-FFF2-40B4-BE49-F238E27FC236}">
                <a16:creationId xmlns:a16="http://schemas.microsoft.com/office/drawing/2014/main" id="{DB29B2F5-7103-CFF1-725A-626BCBE823E0}"/>
              </a:ext>
            </a:extLst>
          </p:cNvPr>
          <p:cNvGrpSpPr/>
          <p:nvPr/>
        </p:nvGrpSpPr>
        <p:grpSpPr>
          <a:xfrm flipV="1">
            <a:off x="3612662" y="4580791"/>
            <a:ext cx="1101807" cy="95367"/>
            <a:chOff x="3465975" y="2270276"/>
            <a:chExt cx="1986364" cy="171929"/>
          </a:xfrm>
          <a:solidFill>
            <a:schemeClr val="bg1"/>
          </a:solidFill>
        </p:grpSpPr>
        <p:sp>
          <p:nvSpPr>
            <p:cNvPr id="58" name="Google Shape;8688;p58">
              <a:extLst>
                <a:ext uri="{FF2B5EF4-FFF2-40B4-BE49-F238E27FC236}">
                  <a16:creationId xmlns:a16="http://schemas.microsoft.com/office/drawing/2014/main" id="{D8218AA8-E6CB-60E0-B5A7-C79848D8781F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689;p58">
              <a:extLst>
                <a:ext uri="{FF2B5EF4-FFF2-40B4-BE49-F238E27FC236}">
                  <a16:creationId xmlns:a16="http://schemas.microsoft.com/office/drawing/2014/main" id="{3D2B0457-D16A-9017-F48C-E9B69C211799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690;p58">
              <a:extLst>
                <a:ext uri="{FF2B5EF4-FFF2-40B4-BE49-F238E27FC236}">
                  <a16:creationId xmlns:a16="http://schemas.microsoft.com/office/drawing/2014/main" id="{2542C3B8-09ED-F1E6-180A-7549FA86B26A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691;p58">
              <a:extLst>
                <a:ext uri="{FF2B5EF4-FFF2-40B4-BE49-F238E27FC236}">
                  <a16:creationId xmlns:a16="http://schemas.microsoft.com/office/drawing/2014/main" id="{E7AFD2A4-E2A1-DA85-2AAD-2FA6EBCFE56E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8692;p58">
              <a:extLst>
                <a:ext uri="{FF2B5EF4-FFF2-40B4-BE49-F238E27FC236}">
                  <a16:creationId xmlns:a16="http://schemas.microsoft.com/office/drawing/2014/main" id="{CC702472-FBFA-691F-4664-E714846E519E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693;p58">
              <a:extLst>
                <a:ext uri="{FF2B5EF4-FFF2-40B4-BE49-F238E27FC236}">
                  <a16:creationId xmlns:a16="http://schemas.microsoft.com/office/drawing/2014/main" id="{6A522F45-EC88-ECFB-B5CC-D03B435BC4FA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8694;p58">
              <a:extLst>
                <a:ext uri="{FF2B5EF4-FFF2-40B4-BE49-F238E27FC236}">
                  <a16:creationId xmlns:a16="http://schemas.microsoft.com/office/drawing/2014/main" id="{504FFBAC-35B1-9A1D-F7EB-6B9430F17F0E}"/>
                </a:ext>
              </a:extLst>
            </p:cNvPr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8695;p58">
              <a:extLst>
                <a:ext uri="{FF2B5EF4-FFF2-40B4-BE49-F238E27FC236}">
                  <a16:creationId xmlns:a16="http://schemas.microsoft.com/office/drawing/2014/main" id="{C1F37643-39A2-3DE1-7085-77A8212B3BBC}"/>
                </a:ext>
              </a:extLst>
            </p:cNvPr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6" name="Google Shape;1481;p53">
            <a:extLst>
              <a:ext uri="{FF2B5EF4-FFF2-40B4-BE49-F238E27FC236}">
                <a16:creationId xmlns:a16="http://schemas.microsoft.com/office/drawing/2014/main" id="{6A669BE1-564C-177E-4BBB-9353BADC86FF}"/>
              </a:ext>
            </a:extLst>
          </p:cNvPr>
          <p:cNvSpPr/>
          <p:nvPr/>
        </p:nvSpPr>
        <p:spPr>
          <a:xfrm rot="14697195" flipH="1">
            <a:off x="3508521" y="4385809"/>
            <a:ext cx="143780" cy="173633"/>
          </a:xfrm>
          <a:custGeom>
            <a:avLst/>
            <a:gdLst/>
            <a:ahLst/>
            <a:cxnLst/>
            <a:rect l="l" t="t" r="r" b="b"/>
            <a:pathLst>
              <a:path w="2432" h="2677" extrusionOk="0">
                <a:moveTo>
                  <a:pt x="801" y="1"/>
                </a:moveTo>
                <a:lnTo>
                  <a:pt x="1205" y="751"/>
                </a:lnTo>
                <a:lnTo>
                  <a:pt x="1" y="751"/>
                </a:lnTo>
                <a:lnTo>
                  <a:pt x="1" y="1927"/>
                </a:lnTo>
                <a:lnTo>
                  <a:pt x="1205" y="1927"/>
                </a:lnTo>
                <a:lnTo>
                  <a:pt x="801" y="2677"/>
                </a:lnTo>
                <a:lnTo>
                  <a:pt x="2431" y="1335"/>
                </a:lnTo>
                <a:lnTo>
                  <a:pt x="801" y="1"/>
                </a:lnTo>
                <a:close/>
              </a:path>
            </a:pathLst>
          </a:custGeom>
          <a:solidFill>
            <a:schemeClr val="bg1">
              <a:lumMod val="9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5E6CB4D-5CD0-57B5-9065-E70DBE08E0D4}"/>
              </a:ext>
            </a:extLst>
          </p:cNvPr>
          <p:cNvSpPr txBox="1"/>
          <p:nvPr/>
        </p:nvSpPr>
        <p:spPr>
          <a:xfrm>
            <a:off x="2881673" y="4211748"/>
            <a:ext cx="13100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75000"/>
                  </a:schemeClr>
                </a:solidFill>
                <a:latin typeface="Anybody" panose="020B0604020202020204" charset="0"/>
              </a:rPr>
              <a:t>ДАЛЕЕ ИНДИКАЦИЯ</a:t>
            </a:r>
            <a:endParaRPr lang="en-US" sz="800" dirty="0">
              <a:solidFill>
                <a:schemeClr val="bg1">
                  <a:lumMod val="75000"/>
                </a:schemeClr>
              </a:solidFill>
              <a:latin typeface="Anybod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010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E3A17E18-805D-4CCA-915D-F7A5DDF45844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25666" y="1168978"/>
            <a:ext cx="2694900" cy="466200"/>
          </a:xfrm>
        </p:spPr>
        <p:txBody>
          <a:bodyPr/>
          <a:lstStyle/>
          <a:p>
            <a:r>
              <a:rPr lang="en-US" dirty="0"/>
              <a:t>ORBITAMARKET </a:t>
            </a:r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FA55875-490E-236A-82B5-D166729F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786" y="456931"/>
            <a:ext cx="2474933" cy="572700"/>
          </a:xfrm>
        </p:spPr>
        <p:txBody>
          <a:bodyPr/>
          <a:lstStyle/>
          <a:p>
            <a:r>
              <a:rPr lang="ru-RU" dirty="0">
                <a:solidFill>
                  <a:schemeClr val="tx2"/>
                </a:solidFill>
              </a:rPr>
              <a:t>О ПРОЕКТЕ</a:t>
            </a:r>
          </a:p>
        </p:txBody>
      </p:sp>
      <p:grpSp>
        <p:nvGrpSpPr>
          <p:cNvPr id="7" name="Google Shape;8687;p58">
            <a:extLst>
              <a:ext uri="{FF2B5EF4-FFF2-40B4-BE49-F238E27FC236}">
                <a16:creationId xmlns:a16="http://schemas.microsoft.com/office/drawing/2014/main" id="{1377ED94-590A-1DD7-2290-F06AC0F6E049}"/>
              </a:ext>
            </a:extLst>
          </p:cNvPr>
          <p:cNvGrpSpPr/>
          <p:nvPr/>
        </p:nvGrpSpPr>
        <p:grpSpPr>
          <a:xfrm flipV="1">
            <a:off x="3612662" y="4580791"/>
            <a:ext cx="1101807" cy="95367"/>
            <a:chOff x="3465975" y="2270276"/>
            <a:chExt cx="1986364" cy="171929"/>
          </a:xfrm>
          <a:solidFill>
            <a:schemeClr val="bg1"/>
          </a:solidFill>
        </p:grpSpPr>
        <p:sp>
          <p:nvSpPr>
            <p:cNvPr id="8" name="Google Shape;8688;p58">
              <a:extLst>
                <a:ext uri="{FF2B5EF4-FFF2-40B4-BE49-F238E27FC236}">
                  <a16:creationId xmlns:a16="http://schemas.microsoft.com/office/drawing/2014/main" id="{C9691272-2B5A-C942-0DEE-0D9DCF058F4A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689;p58">
              <a:extLst>
                <a:ext uri="{FF2B5EF4-FFF2-40B4-BE49-F238E27FC236}">
                  <a16:creationId xmlns:a16="http://schemas.microsoft.com/office/drawing/2014/main" id="{9184D2C3-4580-AEEB-8E50-858C8BF9DBC4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690;p58">
              <a:extLst>
                <a:ext uri="{FF2B5EF4-FFF2-40B4-BE49-F238E27FC236}">
                  <a16:creationId xmlns:a16="http://schemas.microsoft.com/office/drawing/2014/main" id="{941251BB-17B9-32E5-CEB4-B54E98980BA2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691;p58">
              <a:extLst>
                <a:ext uri="{FF2B5EF4-FFF2-40B4-BE49-F238E27FC236}">
                  <a16:creationId xmlns:a16="http://schemas.microsoft.com/office/drawing/2014/main" id="{8A434DB5-9A02-2037-446E-BA14C57D0E7D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8692;p58">
              <a:extLst>
                <a:ext uri="{FF2B5EF4-FFF2-40B4-BE49-F238E27FC236}">
                  <a16:creationId xmlns:a16="http://schemas.microsoft.com/office/drawing/2014/main" id="{05CF6FC8-CE5D-C0A7-2A5D-B4F76CE9218B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693;p58">
              <a:extLst>
                <a:ext uri="{FF2B5EF4-FFF2-40B4-BE49-F238E27FC236}">
                  <a16:creationId xmlns:a16="http://schemas.microsoft.com/office/drawing/2014/main" id="{DF0F8630-8459-C2E7-624B-823F7BA3EC5B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8694;p58">
              <a:extLst>
                <a:ext uri="{FF2B5EF4-FFF2-40B4-BE49-F238E27FC236}">
                  <a16:creationId xmlns:a16="http://schemas.microsoft.com/office/drawing/2014/main" id="{E17E90C2-C769-D340-5439-E287312E78AF}"/>
                </a:ext>
              </a:extLst>
            </p:cNvPr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695;p58">
              <a:extLst>
                <a:ext uri="{FF2B5EF4-FFF2-40B4-BE49-F238E27FC236}">
                  <a16:creationId xmlns:a16="http://schemas.microsoft.com/office/drawing/2014/main" id="{54147A84-950D-2287-6CD0-66F83271CB3B}"/>
                </a:ext>
              </a:extLst>
            </p:cNvPr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BD52DF0-B104-DCFE-E85E-C062BC7BD7D4}"/>
              </a:ext>
            </a:extLst>
          </p:cNvPr>
          <p:cNvSpPr txBox="1"/>
          <p:nvPr/>
        </p:nvSpPr>
        <p:spPr>
          <a:xfrm>
            <a:off x="993950" y="1558130"/>
            <a:ext cx="30016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>
                    <a:lumMod val="25000"/>
                  </a:schemeClr>
                </a:solidFill>
              </a:rPr>
              <a:t>это микросервисная платформа для оформления заказов на спутниковые продукты</a:t>
            </a:r>
          </a:p>
        </p:txBody>
      </p:sp>
      <p:grpSp>
        <p:nvGrpSpPr>
          <p:cNvPr id="20" name="Google Shape;1411;p53">
            <a:extLst>
              <a:ext uri="{FF2B5EF4-FFF2-40B4-BE49-F238E27FC236}">
                <a16:creationId xmlns:a16="http://schemas.microsoft.com/office/drawing/2014/main" id="{ABE304C0-65E9-ED60-94C6-E22FAB23368A}"/>
              </a:ext>
            </a:extLst>
          </p:cNvPr>
          <p:cNvGrpSpPr/>
          <p:nvPr/>
        </p:nvGrpSpPr>
        <p:grpSpPr>
          <a:xfrm>
            <a:off x="993950" y="2425007"/>
            <a:ext cx="2618712" cy="2009040"/>
            <a:chOff x="1825800" y="1651625"/>
            <a:chExt cx="539989" cy="571775"/>
          </a:xfrm>
          <a:solidFill>
            <a:schemeClr val="tx2"/>
          </a:solidFill>
        </p:grpSpPr>
        <p:sp>
          <p:nvSpPr>
            <p:cNvPr id="21" name="Google Shape;1412;p53">
              <a:extLst>
                <a:ext uri="{FF2B5EF4-FFF2-40B4-BE49-F238E27FC236}">
                  <a16:creationId xmlns:a16="http://schemas.microsoft.com/office/drawing/2014/main" id="{9B12F67F-4CBA-89EA-EB7B-2B5222CD10CE}"/>
                </a:ext>
              </a:extLst>
            </p:cNvPr>
            <p:cNvSpPr/>
            <p:nvPr/>
          </p:nvSpPr>
          <p:spPr>
            <a:xfrm>
              <a:off x="2093189" y="1651625"/>
              <a:ext cx="272600" cy="287950"/>
            </a:xfrm>
            <a:custGeom>
              <a:avLst/>
              <a:gdLst/>
              <a:ahLst/>
              <a:cxnLst/>
              <a:rect l="l" t="t" r="r" b="b"/>
              <a:pathLst>
                <a:path w="10904" h="11518" extrusionOk="0">
                  <a:moveTo>
                    <a:pt x="2" y="1"/>
                  </a:moveTo>
                  <a:lnTo>
                    <a:pt x="0" y="11518"/>
                  </a:lnTo>
                  <a:lnTo>
                    <a:pt x="10904" y="11518"/>
                  </a:lnTo>
                  <a:cubicBezTo>
                    <a:pt x="10391" y="5596"/>
                    <a:pt x="5836" y="826"/>
                    <a:pt x="2" y="1"/>
                  </a:cubicBezTo>
                  <a:close/>
                </a:path>
              </a:pathLst>
            </a:custGeom>
            <a:grp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13;p53">
              <a:extLst>
                <a:ext uri="{FF2B5EF4-FFF2-40B4-BE49-F238E27FC236}">
                  <a16:creationId xmlns:a16="http://schemas.microsoft.com/office/drawing/2014/main" id="{6657D103-8163-4DA8-B2A2-8D4D4B9CAB04}"/>
                </a:ext>
              </a:extLst>
            </p:cNvPr>
            <p:cNvSpPr/>
            <p:nvPr/>
          </p:nvSpPr>
          <p:spPr>
            <a:xfrm>
              <a:off x="1825800" y="1967150"/>
              <a:ext cx="231900" cy="233575"/>
            </a:xfrm>
            <a:custGeom>
              <a:avLst/>
              <a:gdLst/>
              <a:ahLst/>
              <a:cxnLst/>
              <a:rect l="l" t="t" r="r" b="b"/>
              <a:pathLst>
                <a:path w="9276" h="9343" extrusionOk="0">
                  <a:moveTo>
                    <a:pt x="0" y="1"/>
                  </a:moveTo>
                  <a:cubicBezTo>
                    <a:pt x="465" y="4930"/>
                    <a:pt x="4350" y="8842"/>
                    <a:pt x="9275" y="9343"/>
                  </a:cubicBezTo>
                  <a:lnTo>
                    <a:pt x="9275" y="1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14;p53">
              <a:extLst>
                <a:ext uri="{FF2B5EF4-FFF2-40B4-BE49-F238E27FC236}">
                  <a16:creationId xmlns:a16="http://schemas.microsoft.com/office/drawing/2014/main" id="{F82874C3-58BC-B97E-3388-6CEDEA36CCAC}"/>
                </a:ext>
              </a:extLst>
            </p:cNvPr>
            <p:cNvSpPr/>
            <p:nvPr/>
          </p:nvSpPr>
          <p:spPr>
            <a:xfrm>
              <a:off x="2093189" y="1967150"/>
              <a:ext cx="244350" cy="256250"/>
            </a:xfrm>
            <a:custGeom>
              <a:avLst/>
              <a:gdLst/>
              <a:ahLst/>
              <a:cxnLst/>
              <a:rect l="l" t="t" r="r" b="b"/>
              <a:pathLst>
                <a:path w="9774" h="10250" extrusionOk="0">
                  <a:moveTo>
                    <a:pt x="0" y="1"/>
                  </a:moveTo>
                  <a:lnTo>
                    <a:pt x="0" y="10249"/>
                  </a:lnTo>
                  <a:cubicBezTo>
                    <a:pt x="5200" y="9514"/>
                    <a:pt x="9280" y="5280"/>
                    <a:pt x="9773" y="1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A397BC1-969C-9C7E-FBB5-05B5F77CE6E9}"/>
              </a:ext>
            </a:extLst>
          </p:cNvPr>
          <p:cNvSpPr txBox="1"/>
          <p:nvPr/>
        </p:nvSpPr>
        <p:spPr>
          <a:xfrm>
            <a:off x="184902" y="2959875"/>
            <a:ext cx="2105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b="1" dirty="0">
                <a:solidFill>
                  <a:schemeClr val="tx2"/>
                </a:solidFill>
              </a:rPr>
              <a:t>СПУТНИКОВЫЕ ПРОДУКТЫ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E8E799-00C3-8B45-A97D-8761A98112B1}"/>
              </a:ext>
            </a:extLst>
          </p:cNvPr>
          <p:cNvSpPr txBox="1"/>
          <p:nvPr/>
        </p:nvSpPr>
        <p:spPr>
          <a:xfrm>
            <a:off x="2240505" y="2909306"/>
            <a:ext cx="11925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ARCHIVE</a:t>
            </a:r>
            <a:endParaRPr lang="ru-RU" sz="10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E9F921-1922-557A-DF10-3AA4C4AC1C41}"/>
              </a:ext>
            </a:extLst>
          </p:cNvPr>
          <p:cNvSpPr txBox="1"/>
          <p:nvPr/>
        </p:nvSpPr>
        <p:spPr>
          <a:xfrm>
            <a:off x="2176497" y="3725190"/>
            <a:ext cx="11925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TASKING</a:t>
            </a:r>
            <a:endParaRPr lang="ru-RU" sz="10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E27FBD-D12D-8A8D-4D93-290318012783}"/>
              </a:ext>
            </a:extLst>
          </p:cNvPr>
          <p:cNvSpPr txBox="1"/>
          <p:nvPr/>
        </p:nvSpPr>
        <p:spPr>
          <a:xfrm>
            <a:off x="1047909" y="3692774"/>
            <a:ext cx="11925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MONITORING</a:t>
            </a:r>
            <a:endParaRPr lang="ru-RU" sz="1000" b="1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40DFCC-6EC4-7681-177F-D29E3EEDD36D}"/>
              </a:ext>
            </a:extLst>
          </p:cNvPr>
          <p:cNvSpPr txBox="1"/>
          <p:nvPr/>
        </p:nvSpPr>
        <p:spPr>
          <a:xfrm>
            <a:off x="431856" y="4362324"/>
            <a:ext cx="2535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>
                <a:solidFill>
                  <a:schemeClr val="bg1">
                    <a:lumMod val="75000"/>
                  </a:schemeClr>
                </a:solidFill>
              </a:rPr>
              <a:t>Архивные снимки (ARCHIVE)</a:t>
            </a:r>
          </a:p>
          <a:p>
            <a:r>
              <a:rPr lang="ru-RU" sz="800" dirty="0">
                <a:solidFill>
                  <a:schemeClr val="bg1">
                    <a:lumMod val="75000"/>
                  </a:schemeClr>
                </a:solidFill>
              </a:rPr>
              <a:t>Заказ на съемку (TASKING)</a:t>
            </a:r>
          </a:p>
          <a:p>
            <a:r>
              <a:rPr lang="ru-RU" sz="800" dirty="0">
                <a:solidFill>
                  <a:schemeClr val="bg1">
                    <a:lumMod val="75000"/>
                  </a:schemeClr>
                </a:solidFill>
              </a:rPr>
              <a:t>Мониторинг территории (MONITORING)</a:t>
            </a:r>
          </a:p>
        </p:txBody>
      </p:sp>
      <p:sp>
        <p:nvSpPr>
          <p:cNvPr id="33" name="Подзаголовок 3">
            <a:extLst>
              <a:ext uri="{FF2B5EF4-FFF2-40B4-BE49-F238E27FC236}">
                <a16:creationId xmlns:a16="http://schemas.microsoft.com/office/drawing/2014/main" id="{2433E19B-8F62-DAF8-63F7-DE0637477CFC}"/>
              </a:ext>
            </a:extLst>
          </p:cNvPr>
          <p:cNvSpPr txBox="1">
            <a:spLocks/>
          </p:cNvSpPr>
          <p:nvPr/>
        </p:nvSpPr>
        <p:spPr>
          <a:xfrm>
            <a:off x="4242288" y="1371139"/>
            <a:ext cx="26949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18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dirty="0"/>
              <a:t>БИЗНЕС-ЦЕННОСТЬ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8CE02C-5342-9E7E-EE17-899E980258C9}"/>
              </a:ext>
            </a:extLst>
          </p:cNvPr>
          <p:cNvSpPr txBox="1"/>
          <p:nvPr/>
        </p:nvSpPr>
        <p:spPr>
          <a:xfrm>
            <a:off x="4687292" y="1837339"/>
            <a:ext cx="38574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000" dirty="0">
                <a:solidFill>
                  <a:schemeClr val="bg1">
                    <a:lumMod val="25000"/>
                  </a:schemeClr>
                </a:solidFill>
              </a:rPr>
              <a:t>Пользователи могут создавать счет в </a:t>
            </a:r>
            <a:r>
              <a:rPr lang="ru-RU" sz="1000" dirty="0" err="1">
                <a:solidFill>
                  <a:schemeClr val="bg1">
                    <a:lumMod val="25000"/>
                  </a:schemeClr>
                </a:solidFill>
              </a:rPr>
              <a:t>геокредитах</a:t>
            </a:r>
            <a:r>
              <a:rPr lang="ru-RU" sz="1000" dirty="0">
                <a:solidFill>
                  <a:schemeClr val="bg1">
                    <a:lumMod val="25000"/>
                  </a:schemeClr>
                </a:solidFill>
              </a:rPr>
              <a:t>, пополнять баланс, оформлять заказы и отслеживать статус оплаты.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000" dirty="0">
                <a:solidFill>
                  <a:schemeClr val="bg1">
                    <a:lumMod val="25000"/>
                  </a:schemeClr>
                </a:solidFill>
              </a:rPr>
              <a:t>Все платежи проходят асинхронно через брокер сообщений, что обеспечивает высокую надёжность и устойчивость к сбоям.</a:t>
            </a: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6971C024-7039-82E6-0CC1-7777A7A0840C}"/>
              </a:ext>
            </a:extLst>
          </p:cNvPr>
          <p:cNvCxnSpPr/>
          <p:nvPr/>
        </p:nvCxnSpPr>
        <p:spPr>
          <a:xfrm>
            <a:off x="4242288" y="1168978"/>
            <a:ext cx="0" cy="3193346"/>
          </a:xfrm>
          <a:prstGeom prst="line">
            <a:avLst/>
          </a:prstGeom>
          <a:ln w="3175">
            <a:solidFill>
              <a:schemeClr val="tx2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Подзаголовок 3">
            <a:extLst>
              <a:ext uri="{FF2B5EF4-FFF2-40B4-BE49-F238E27FC236}">
                <a16:creationId xmlns:a16="http://schemas.microsoft.com/office/drawing/2014/main" id="{1BFB4DC6-ACF6-BF17-4EF6-37EA5AF2A94E}"/>
              </a:ext>
            </a:extLst>
          </p:cNvPr>
          <p:cNvSpPr txBox="1">
            <a:spLocks/>
          </p:cNvSpPr>
          <p:nvPr/>
        </p:nvSpPr>
        <p:spPr>
          <a:xfrm>
            <a:off x="4242288" y="3004631"/>
            <a:ext cx="3147663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18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dirty="0"/>
              <a:t>ЦЕЛЕВАЯ АУДИТОРИЯ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AA9912-BD75-79F1-B8D9-D13BF225E3B4}"/>
              </a:ext>
            </a:extLst>
          </p:cNvPr>
          <p:cNvSpPr txBox="1"/>
          <p:nvPr/>
        </p:nvSpPr>
        <p:spPr>
          <a:xfrm>
            <a:off x="4761036" y="3471812"/>
            <a:ext cx="37836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000" dirty="0">
                <a:solidFill>
                  <a:schemeClr val="bg1">
                    <a:lumMod val="25000"/>
                  </a:schemeClr>
                </a:solidFill>
              </a:rPr>
              <a:t>Клиенты платформы (покупатели спутниковых данных)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000" dirty="0">
                <a:solidFill>
                  <a:schemeClr val="bg1">
                    <a:lumMod val="25000"/>
                  </a:schemeClr>
                </a:solidFill>
              </a:rPr>
              <a:t>Операторы платформы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000" dirty="0">
                <a:solidFill>
                  <a:schemeClr val="bg1">
                    <a:lumMod val="25000"/>
                  </a:schemeClr>
                </a:solidFill>
              </a:rPr>
              <a:t>Разработчики / команда сопровождения</a:t>
            </a:r>
          </a:p>
        </p:txBody>
      </p:sp>
      <p:grpSp>
        <p:nvGrpSpPr>
          <p:cNvPr id="39" name="Google Shape;10289;p61">
            <a:extLst>
              <a:ext uri="{FF2B5EF4-FFF2-40B4-BE49-F238E27FC236}">
                <a16:creationId xmlns:a16="http://schemas.microsoft.com/office/drawing/2014/main" id="{2422D81A-A3AB-CA65-A00E-DEDA85F044C2}"/>
              </a:ext>
            </a:extLst>
          </p:cNvPr>
          <p:cNvGrpSpPr/>
          <p:nvPr/>
        </p:nvGrpSpPr>
        <p:grpSpPr>
          <a:xfrm rot="3744607">
            <a:off x="7458462" y="450101"/>
            <a:ext cx="818328" cy="805582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40" name="Google Shape;10290;p61">
              <a:extLst>
                <a:ext uri="{FF2B5EF4-FFF2-40B4-BE49-F238E27FC236}">
                  <a16:creationId xmlns:a16="http://schemas.microsoft.com/office/drawing/2014/main" id="{BC405A49-61D4-2781-ACD4-EC71A049BF96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1" name="Google Shape;10291;p61">
              <a:extLst>
                <a:ext uri="{FF2B5EF4-FFF2-40B4-BE49-F238E27FC236}">
                  <a16:creationId xmlns:a16="http://schemas.microsoft.com/office/drawing/2014/main" id="{F63BC619-0AF4-961E-B93C-146D93835E51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2" name="Google Shape;10292;p61">
              <a:extLst>
                <a:ext uri="{FF2B5EF4-FFF2-40B4-BE49-F238E27FC236}">
                  <a16:creationId xmlns:a16="http://schemas.microsoft.com/office/drawing/2014/main" id="{B2E5E474-3462-E9A7-00D6-C3D609014B79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3" name="Google Shape;10293;p61">
              <a:extLst>
                <a:ext uri="{FF2B5EF4-FFF2-40B4-BE49-F238E27FC236}">
                  <a16:creationId xmlns:a16="http://schemas.microsoft.com/office/drawing/2014/main" id="{3F7AC976-21A2-2591-7F58-20FB5E4F7898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4" name="Google Shape;10294;p61">
              <a:extLst>
                <a:ext uri="{FF2B5EF4-FFF2-40B4-BE49-F238E27FC236}">
                  <a16:creationId xmlns:a16="http://schemas.microsoft.com/office/drawing/2014/main" id="{FC744BDF-A669-4B35-CB81-82A8AE018E11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45" name="Google Shape;10289;p61">
            <a:extLst>
              <a:ext uri="{FF2B5EF4-FFF2-40B4-BE49-F238E27FC236}">
                <a16:creationId xmlns:a16="http://schemas.microsoft.com/office/drawing/2014/main" id="{B501433F-C21B-6AD9-7E86-C29FD33CF4EC}"/>
              </a:ext>
            </a:extLst>
          </p:cNvPr>
          <p:cNvGrpSpPr/>
          <p:nvPr/>
        </p:nvGrpSpPr>
        <p:grpSpPr>
          <a:xfrm rot="554523">
            <a:off x="966828" y="432227"/>
            <a:ext cx="397478" cy="391287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46" name="Google Shape;10290;p61">
              <a:extLst>
                <a:ext uri="{FF2B5EF4-FFF2-40B4-BE49-F238E27FC236}">
                  <a16:creationId xmlns:a16="http://schemas.microsoft.com/office/drawing/2014/main" id="{33B76028-4936-A42B-BE51-BF26CD504418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7" name="Google Shape;10291;p61">
              <a:extLst>
                <a:ext uri="{FF2B5EF4-FFF2-40B4-BE49-F238E27FC236}">
                  <a16:creationId xmlns:a16="http://schemas.microsoft.com/office/drawing/2014/main" id="{3A06D355-29FA-555B-BF5C-A542997940EA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8" name="Google Shape;10292;p61">
              <a:extLst>
                <a:ext uri="{FF2B5EF4-FFF2-40B4-BE49-F238E27FC236}">
                  <a16:creationId xmlns:a16="http://schemas.microsoft.com/office/drawing/2014/main" id="{081F96D3-7509-73E6-3E2E-78ED86059E6F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9" name="Google Shape;10293;p61">
              <a:extLst>
                <a:ext uri="{FF2B5EF4-FFF2-40B4-BE49-F238E27FC236}">
                  <a16:creationId xmlns:a16="http://schemas.microsoft.com/office/drawing/2014/main" id="{C605745E-1610-2182-8D1A-9D88D158190C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0" name="Google Shape;10294;p61">
              <a:extLst>
                <a:ext uri="{FF2B5EF4-FFF2-40B4-BE49-F238E27FC236}">
                  <a16:creationId xmlns:a16="http://schemas.microsoft.com/office/drawing/2014/main" id="{359F01F5-1C7D-5DAA-F3FB-6FA9F8571061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51" name="Google Shape;10289;p61">
            <a:extLst>
              <a:ext uri="{FF2B5EF4-FFF2-40B4-BE49-F238E27FC236}">
                <a16:creationId xmlns:a16="http://schemas.microsoft.com/office/drawing/2014/main" id="{AF5D0ECC-3211-B7F1-155D-9EE461911800}"/>
              </a:ext>
            </a:extLst>
          </p:cNvPr>
          <p:cNvGrpSpPr/>
          <p:nvPr/>
        </p:nvGrpSpPr>
        <p:grpSpPr>
          <a:xfrm rot="15960492">
            <a:off x="1968574" y="2471568"/>
            <a:ext cx="397478" cy="391287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52" name="Google Shape;10290;p61">
              <a:extLst>
                <a:ext uri="{FF2B5EF4-FFF2-40B4-BE49-F238E27FC236}">
                  <a16:creationId xmlns:a16="http://schemas.microsoft.com/office/drawing/2014/main" id="{D8A4EE91-D6F1-AEDD-FBD9-5A71F9BF31A0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3" name="Google Shape;10291;p61">
              <a:extLst>
                <a:ext uri="{FF2B5EF4-FFF2-40B4-BE49-F238E27FC236}">
                  <a16:creationId xmlns:a16="http://schemas.microsoft.com/office/drawing/2014/main" id="{5336687A-D082-418A-E558-E0EDD604E238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4" name="Google Shape;10292;p61">
              <a:extLst>
                <a:ext uri="{FF2B5EF4-FFF2-40B4-BE49-F238E27FC236}">
                  <a16:creationId xmlns:a16="http://schemas.microsoft.com/office/drawing/2014/main" id="{2E76C53E-561A-6F28-DE34-2A18FC8BCB86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5" name="Google Shape;10293;p61">
              <a:extLst>
                <a:ext uri="{FF2B5EF4-FFF2-40B4-BE49-F238E27FC236}">
                  <a16:creationId xmlns:a16="http://schemas.microsoft.com/office/drawing/2014/main" id="{54FA05BA-C9A3-681F-47DF-0D069D9E8CC0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6" name="Google Shape;10294;p61">
              <a:extLst>
                <a:ext uri="{FF2B5EF4-FFF2-40B4-BE49-F238E27FC236}">
                  <a16:creationId xmlns:a16="http://schemas.microsoft.com/office/drawing/2014/main" id="{8BF77E13-8C6E-4CC1-26A6-8ACF2ACE04EE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312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5">
            <a:extLst>
              <a:ext uri="{FF2B5EF4-FFF2-40B4-BE49-F238E27FC236}">
                <a16:creationId xmlns:a16="http://schemas.microsoft.com/office/drawing/2014/main" id="{45D8CF15-AE50-B77F-840D-5A5B8078E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445" y="467342"/>
            <a:ext cx="5686254" cy="572700"/>
          </a:xfrm>
        </p:spPr>
        <p:txBody>
          <a:bodyPr/>
          <a:lstStyle/>
          <a:p>
            <a:r>
              <a:rPr lang="ru-RU" sz="2400" dirty="0">
                <a:solidFill>
                  <a:schemeClr val="tx2"/>
                </a:solidFill>
              </a:rPr>
              <a:t>ОСОБЕННОСТИ РЕАЛИЗАЦИИ</a:t>
            </a:r>
          </a:p>
        </p:txBody>
      </p:sp>
      <p:grpSp>
        <p:nvGrpSpPr>
          <p:cNvPr id="16" name="Google Shape;8687;p58">
            <a:extLst>
              <a:ext uri="{FF2B5EF4-FFF2-40B4-BE49-F238E27FC236}">
                <a16:creationId xmlns:a16="http://schemas.microsoft.com/office/drawing/2014/main" id="{3E064D5E-F4EE-6D56-63BB-336C1AC70AF8}"/>
              </a:ext>
            </a:extLst>
          </p:cNvPr>
          <p:cNvGrpSpPr/>
          <p:nvPr/>
        </p:nvGrpSpPr>
        <p:grpSpPr>
          <a:xfrm flipV="1">
            <a:off x="3612662" y="4580791"/>
            <a:ext cx="1101807" cy="95367"/>
            <a:chOff x="3465975" y="2270276"/>
            <a:chExt cx="1986364" cy="171929"/>
          </a:xfrm>
          <a:solidFill>
            <a:schemeClr val="bg1"/>
          </a:solidFill>
        </p:grpSpPr>
        <p:sp>
          <p:nvSpPr>
            <p:cNvPr id="17" name="Google Shape;8688;p58">
              <a:extLst>
                <a:ext uri="{FF2B5EF4-FFF2-40B4-BE49-F238E27FC236}">
                  <a16:creationId xmlns:a16="http://schemas.microsoft.com/office/drawing/2014/main" id="{45BF7F07-4474-3E8D-CAFA-20C640D509CB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8689;p58">
              <a:extLst>
                <a:ext uri="{FF2B5EF4-FFF2-40B4-BE49-F238E27FC236}">
                  <a16:creationId xmlns:a16="http://schemas.microsoft.com/office/drawing/2014/main" id="{1896A6BC-05EC-A826-EC5E-65077F41CB14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690;p58">
              <a:extLst>
                <a:ext uri="{FF2B5EF4-FFF2-40B4-BE49-F238E27FC236}">
                  <a16:creationId xmlns:a16="http://schemas.microsoft.com/office/drawing/2014/main" id="{A044BCFA-6318-2C1E-B1A4-54378FFF86EE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691;p58">
              <a:extLst>
                <a:ext uri="{FF2B5EF4-FFF2-40B4-BE49-F238E27FC236}">
                  <a16:creationId xmlns:a16="http://schemas.microsoft.com/office/drawing/2014/main" id="{4393A10A-5F1E-938C-77B5-3DA17ABEA0F9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8692;p58">
              <a:extLst>
                <a:ext uri="{FF2B5EF4-FFF2-40B4-BE49-F238E27FC236}">
                  <a16:creationId xmlns:a16="http://schemas.microsoft.com/office/drawing/2014/main" id="{6F3AD412-560F-5141-BB17-33CA84E5CB42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693;p58">
              <a:extLst>
                <a:ext uri="{FF2B5EF4-FFF2-40B4-BE49-F238E27FC236}">
                  <a16:creationId xmlns:a16="http://schemas.microsoft.com/office/drawing/2014/main" id="{4E3D647F-C3CD-5274-DA8A-178569030A51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8694;p58">
              <a:extLst>
                <a:ext uri="{FF2B5EF4-FFF2-40B4-BE49-F238E27FC236}">
                  <a16:creationId xmlns:a16="http://schemas.microsoft.com/office/drawing/2014/main" id="{60999050-837C-17B1-149F-59926603A3E5}"/>
                </a:ext>
              </a:extLst>
            </p:cNvPr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695;p58">
              <a:extLst>
                <a:ext uri="{FF2B5EF4-FFF2-40B4-BE49-F238E27FC236}">
                  <a16:creationId xmlns:a16="http://schemas.microsoft.com/office/drawing/2014/main" id="{E9EAF3F3-2B10-B4C5-C2B4-3457DF4527B0}"/>
                </a:ext>
              </a:extLst>
            </p:cNvPr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9BBBEAC-A3D5-D9B2-67AF-A1C415C4511A}"/>
              </a:ext>
            </a:extLst>
          </p:cNvPr>
          <p:cNvSpPr txBox="1"/>
          <p:nvPr/>
        </p:nvSpPr>
        <p:spPr>
          <a:xfrm>
            <a:off x="394970" y="1361674"/>
            <a:ext cx="5575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АРХИТЕКТУРНЫЙ ПОДХОД</a:t>
            </a:r>
          </a:p>
        </p:txBody>
      </p:sp>
      <p:graphicFrame>
        <p:nvGraphicFramePr>
          <p:cNvPr id="49" name="Таблица 48">
            <a:extLst>
              <a:ext uri="{FF2B5EF4-FFF2-40B4-BE49-F238E27FC236}">
                <a16:creationId xmlns:a16="http://schemas.microsoft.com/office/drawing/2014/main" id="{B9899170-55A4-0969-8902-4BC997941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818626"/>
              </p:ext>
            </p:extLst>
          </p:nvPr>
        </p:nvGraphicFramePr>
        <p:xfrm>
          <a:off x="458593" y="1751279"/>
          <a:ext cx="4829689" cy="2388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6234">
                  <a:extLst>
                    <a:ext uri="{9D8B030D-6E8A-4147-A177-3AD203B41FA5}">
                      <a16:colId xmlns:a16="http://schemas.microsoft.com/office/drawing/2014/main" val="1665023786"/>
                    </a:ext>
                  </a:extLst>
                </a:gridCol>
                <a:gridCol w="1198373">
                  <a:extLst>
                    <a:ext uri="{9D8B030D-6E8A-4147-A177-3AD203B41FA5}">
                      <a16:colId xmlns:a16="http://schemas.microsoft.com/office/drawing/2014/main" val="1040069017"/>
                    </a:ext>
                  </a:extLst>
                </a:gridCol>
                <a:gridCol w="2545082">
                  <a:extLst>
                    <a:ext uri="{9D8B030D-6E8A-4147-A177-3AD203B41FA5}">
                      <a16:colId xmlns:a16="http://schemas.microsoft.com/office/drawing/2014/main" val="944006268"/>
                    </a:ext>
                  </a:extLst>
                </a:gridCol>
              </a:tblGrid>
              <a:tr h="398145">
                <a:tc>
                  <a:txBody>
                    <a:bodyPr/>
                    <a:lstStyle/>
                    <a:p>
                      <a:pPr algn="ctr"/>
                      <a:endParaRPr lang="ru-RU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ТЕХНОЛОГИЯ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НАЗНАЧЕНИЕ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068324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nybody" panose="020B0604020202020204" charset="0"/>
                        </a:rPr>
                        <a:t>API Gateway</a:t>
                      </a:r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nybody" panose="020B0604020202020204" charset="0"/>
                        </a:rPr>
                        <a:t>Spring Cloud Gateway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Единая точка входа, маршрутизация /</a:t>
                      </a:r>
                      <a:r>
                        <a:rPr lang="ru-RU" sz="1000" dirty="0" err="1"/>
                        <a:t>payments</a:t>
                      </a:r>
                      <a:r>
                        <a:rPr lang="ru-RU" sz="1000" dirty="0"/>
                        <a:t>/*, /</a:t>
                      </a:r>
                      <a:r>
                        <a:rPr lang="ru-RU" sz="1000" dirty="0" err="1"/>
                        <a:t>orders</a:t>
                      </a:r>
                      <a:r>
                        <a:rPr lang="ru-RU" sz="1000" dirty="0"/>
                        <a:t>/*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24927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nybody" panose="020B0604020202020204" charset="0"/>
                        </a:rPr>
                        <a:t>Orders Service</a:t>
                      </a:r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nybody" panose="020B0604020202020204" charset="0"/>
                        </a:rPr>
                        <a:t>Spring Boot 3.2.0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Управление заказами, валидация, статусы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59995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nybody" panose="020B0604020202020204" charset="0"/>
                        </a:rPr>
                        <a:t>Payments Service</a:t>
                      </a:r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nybody" panose="020B0604020202020204" charset="0"/>
                        </a:rPr>
                        <a:t>Spring Boot 3.2.0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Управление счетами, баланс, списание </a:t>
                      </a:r>
                      <a:r>
                        <a:rPr lang="ru-RU" sz="1000" dirty="0" err="1"/>
                        <a:t>геокредитов</a:t>
                      </a:r>
                      <a:endParaRPr lang="ru-RU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261175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nybody" panose="020B0604020202020204" charset="0"/>
                        </a:rPr>
                        <a:t>Message Broker</a:t>
                      </a:r>
                      <a:endParaRPr lang="ru-RU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nybody" panose="020B0604020202020204" charset="0"/>
                        </a:rPr>
                        <a:t>Apache Kafka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Асинхронное взаимодействие, гарантированная доставка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635226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r>
                        <a:rPr lang="ru-RU" sz="1000" dirty="0">
                          <a:solidFill>
                            <a:schemeClr val="bg1"/>
                          </a:solidFill>
                        </a:rPr>
                        <a:t>Базы данных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nybody" panose="020B0604020202020204" charset="0"/>
                        </a:rPr>
                        <a:t>PostgreSQL</a:t>
                      </a:r>
                      <a:endParaRPr lang="ru-RU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Anybody" panose="020B0604020202020204" charset="0"/>
                        </a:rPr>
                        <a:t>orders_db</a:t>
                      </a:r>
                      <a:r>
                        <a:rPr lang="en-US" sz="1000" dirty="0">
                          <a:latin typeface="Anybody" panose="020B0604020202020204" charset="0"/>
                        </a:rPr>
                        <a:t>, </a:t>
                      </a:r>
                      <a:r>
                        <a:rPr lang="en-US" sz="1000" dirty="0" err="1">
                          <a:latin typeface="Anybody" panose="020B0604020202020204" charset="0"/>
                        </a:rPr>
                        <a:t>payments_db</a:t>
                      </a:r>
                      <a:endParaRPr lang="ru-RU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23080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6A71F2C9-95D0-F8A7-CE9A-475FE2C7DE9F}"/>
              </a:ext>
            </a:extLst>
          </p:cNvPr>
          <p:cNvSpPr txBox="1"/>
          <p:nvPr/>
        </p:nvSpPr>
        <p:spPr>
          <a:xfrm>
            <a:off x="5576570" y="1700228"/>
            <a:ext cx="5575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ТЕХНИЧЕСКИЕ ОСОБЕННОСТИ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C80C0B-88BE-F36A-10EF-B823972DE609}"/>
              </a:ext>
            </a:extLst>
          </p:cNvPr>
          <p:cNvSpPr txBox="1"/>
          <p:nvPr/>
        </p:nvSpPr>
        <p:spPr>
          <a:xfrm>
            <a:off x="5704840" y="2038782"/>
            <a:ext cx="3097407" cy="237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1">
                    <a:lumMod val="50000"/>
                  </a:schemeClr>
                </a:solidFill>
              </a:rPr>
              <a:t>Защита от повторного списания через </a:t>
            </a:r>
            <a:r>
              <a:rPr lang="ru-RU" sz="1000" dirty="0" err="1">
                <a:solidFill>
                  <a:schemeClr val="bg1">
                    <a:lumMod val="50000"/>
                  </a:schemeClr>
                </a:solidFill>
              </a:rPr>
              <a:t>Inbox</a:t>
            </a:r>
            <a:r>
              <a:rPr lang="ru-RU" sz="10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ru-RU" sz="1000" dirty="0" err="1">
                <a:solidFill>
                  <a:schemeClr val="bg1">
                    <a:lumMod val="50000"/>
                  </a:schemeClr>
                </a:solidFill>
              </a:rPr>
              <a:t>Outbox</a:t>
            </a:r>
            <a:r>
              <a:rPr lang="ru-RU" sz="1000" dirty="0">
                <a:solidFill>
                  <a:schemeClr val="bg1">
                    <a:lumMod val="50000"/>
                  </a:schemeClr>
                </a:solidFill>
              </a:rPr>
              <a:t> таблицы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1">
                    <a:lumMod val="50000"/>
                  </a:schemeClr>
                </a:solidFill>
              </a:rPr>
              <a:t>Пессимистичная блокировка @Lock(LockModeType.PESSIMISTIC_WRITE) для конкурентного доступа к балансу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1">
                    <a:lumMod val="50000"/>
                  </a:schemeClr>
                </a:solidFill>
              </a:rPr>
              <a:t>Атомарное сохранение заказа и события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1">
                    <a:lumMod val="50000"/>
                  </a:schemeClr>
                </a:solidFill>
              </a:rPr>
              <a:t>Асинхронность — оплата через </a:t>
            </a:r>
            <a:r>
              <a:rPr lang="ru-RU" sz="1000" dirty="0" err="1">
                <a:solidFill>
                  <a:schemeClr val="bg1">
                    <a:lumMod val="50000"/>
                  </a:schemeClr>
                </a:solidFill>
              </a:rPr>
              <a:t>Kafka</a:t>
            </a:r>
            <a:r>
              <a:rPr lang="ru-RU" sz="1000" dirty="0">
                <a:solidFill>
                  <a:schemeClr val="bg1">
                    <a:lumMod val="50000"/>
                  </a:schemeClr>
                </a:solidFill>
              </a:rPr>
              <a:t> без блокировки пользователя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1">
                    <a:lumMod val="50000"/>
                  </a:schemeClr>
                </a:solidFill>
              </a:rPr>
              <a:t>Единый формат ошибок — {"</a:t>
            </a:r>
            <a:r>
              <a:rPr lang="ru-RU" sz="1000" dirty="0" err="1">
                <a:solidFill>
                  <a:schemeClr val="bg1">
                    <a:lumMod val="50000"/>
                  </a:schemeClr>
                </a:solidFill>
              </a:rPr>
              <a:t>error_code</a:t>
            </a:r>
            <a:r>
              <a:rPr lang="ru-RU" sz="1000" dirty="0">
                <a:solidFill>
                  <a:schemeClr val="bg1">
                    <a:lumMod val="50000"/>
                  </a:schemeClr>
                </a:solidFill>
              </a:rPr>
              <a:t>": "...", "</a:t>
            </a:r>
            <a:r>
              <a:rPr lang="ru-RU" sz="1000" dirty="0" err="1">
                <a:solidFill>
                  <a:schemeClr val="bg1">
                    <a:lumMod val="50000"/>
                  </a:schemeClr>
                </a:solidFill>
              </a:rPr>
              <a:t>message</a:t>
            </a:r>
            <a:r>
              <a:rPr lang="ru-RU" sz="1000" dirty="0">
                <a:solidFill>
                  <a:schemeClr val="bg1">
                    <a:lumMod val="50000"/>
                  </a:schemeClr>
                </a:solidFill>
              </a:rPr>
              <a:t>": "...", "</a:t>
            </a:r>
            <a:r>
              <a:rPr lang="ru-RU" sz="1000" dirty="0" err="1">
                <a:solidFill>
                  <a:schemeClr val="bg1">
                    <a:lumMod val="50000"/>
                  </a:schemeClr>
                </a:solidFill>
              </a:rPr>
              <a:t>timestamp</a:t>
            </a:r>
            <a:r>
              <a:rPr lang="ru-RU" sz="1000" dirty="0">
                <a:solidFill>
                  <a:schemeClr val="bg1">
                    <a:lumMod val="50000"/>
                  </a:schemeClr>
                </a:solidFill>
              </a:rPr>
              <a:t>": "..."}</a:t>
            </a:r>
          </a:p>
        </p:txBody>
      </p: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E3540589-70CE-325E-921E-92DBF8695041}"/>
              </a:ext>
            </a:extLst>
          </p:cNvPr>
          <p:cNvCxnSpPr/>
          <p:nvPr/>
        </p:nvCxnSpPr>
        <p:spPr>
          <a:xfrm>
            <a:off x="5456408" y="1217560"/>
            <a:ext cx="0" cy="3193346"/>
          </a:xfrm>
          <a:prstGeom prst="line">
            <a:avLst/>
          </a:prstGeom>
          <a:ln w="3175">
            <a:solidFill>
              <a:schemeClr val="tx2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oogle Shape;10289;p61">
            <a:extLst>
              <a:ext uri="{FF2B5EF4-FFF2-40B4-BE49-F238E27FC236}">
                <a16:creationId xmlns:a16="http://schemas.microsoft.com/office/drawing/2014/main" id="{DC2B83B0-FECE-C06A-1409-228CCBC1BC10}"/>
              </a:ext>
            </a:extLst>
          </p:cNvPr>
          <p:cNvGrpSpPr/>
          <p:nvPr/>
        </p:nvGrpSpPr>
        <p:grpSpPr>
          <a:xfrm rot="554523">
            <a:off x="1181286" y="3896787"/>
            <a:ext cx="397478" cy="391287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56" name="Google Shape;10290;p61">
              <a:extLst>
                <a:ext uri="{FF2B5EF4-FFF2-40B4-BE49-F238E27FC236}">
                  <a16:creationId xmlns:a16="http://schemas.microsoft.com/office/drawing/2014/main" id="{95ACC2A0-5C34-31C1-92C0-1F88ED3A351B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7" name="Google Shape;10291;p61">
              <a:extLst>
                <a:ext uri="{FF2B5EF4-FFF2-40B4-BE49-F238E27FC236}">
                  <a16:creationId xmlns:a16="http://schemas.microsoft.com/office/drawing/2014/main" id="{D1353699-B739-1D1E-AE84-439002B2B78C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8" name="Google Shape;10292;p61">
              <a:extLst>
                <a:ext uri="{FF2B5EF4-FFF2-40B4-BE49-F238E27FC236}">
                  <a16:creationId xmlns:a16="http://schemas.microsoft.com/office/drawing/2014/main" id="{63FFEF7B-98E5-D397-9739-1F4F5454ACFE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9" name="Google Shape;10293;p61">
              <a:extLst>
                <a:ext uri="{FF2B5EF4-FFF2-40B4-BE49-F238E27FC236}">
                  <a16:creationId xmlns:a16="http://schemas.microsoft.com/office/drawing/2014/main" id="{0C478722-D441-00E9-44CA-AC0107DB829B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60" name="Google Shape;10294;p61">
              <a:extLst>
                <a:ext uri="{FF2B5EF4-FFF2-40B4-BE49-F238E27FC236}">
                  <a16:creationId xmlns:a16="http://schemas.microsoft.com/office/drawing/2014/main" id="{B3C6A642-8CC3-C2B3-DE82-B2A532559A25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556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10289;p61">
            <a:extLst>
              <a:ext uri="{FF2B5EF4-FFF2-40B4-BE49-F238E27FC236}">
                <a16:creationId xmlns:a16="http://schemas.microsoft.com/office/drawing/2014/main" id="{28912348-D908-01C5-BDBE-2A32DE9BC035}"/>
              </a:ext>
            </a:extLst>
          </p:cNvPr>
          <p:cNvGrpSpPr/>
          <p:nvPr/>
        </p:nvGrpSpPr>
        <p:grpSpPr>
          <a:xfrm rot="554523">
            <a:off x="1961157" y="1747342"/>
            <a:ext cx="2768207" cy="2725090"/>
            <a:chOff x="1754279" y="4286593"/>
            <a:chExt cx="351439" cy="345965"/>
          </a:xfrm>
          <a:solidFill>
            <a:schemeClr val="bg1"/>
          </a:solidFill>
        </p:grpSpPr>
        <p:sp>
          <p:nvSpPr>
            <p:cNvPr id="49" name="Google Shape;10290;p61">
              <a:extLst>
                <a:ext uri="{FF2B5EF4-FFF2-40B4-BE49-F238E27FC236}">
                  <a16:creationId xmlns:a16="http://schemas.microsoft.com/office/drawing/2014/main" id="{FF3F775B-20DD-A01B-903E-C6E97C991604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0" name="Google Shape;10291;p61">
              <a:extLst>
                <a:ext uri="{FF2B5EF4-FFF2-40B4-BE49-F238E27FC236}">
                  <a16:creationId xmlns:a16="http://schemas.microsoft.com/office/drawing/2014/main" id="{5D02B02B-6662-72EF-2937-348D0EC4D14F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1" name="Google Shape;10292;p61">
              <a:extLst>
                <a:ext uri="{FF2B5EF4-FFF2-40B4-BE49-F238E27FC236}">
                  <a16:creationId xmlns:a16="http://schemas.microsoft.com/office/drawing/2014/main" id="{D41B832B-D633-B215-9763-83D63194D301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2" name="Google Shape;10293;p61">
              <a:extLst>
                <a:ext uri="{FF2B5EF4-FFF2-40B4-BE49-F238E27FC236}">
                  <a16:creationId xmlns:a16="http://schemas.microsoft.com/office/drawing/2014/main" id="{AFB3D2F7-CAEC-BCEF-C805-CEEF3330EDF9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3" name="Google Shape;10294;p61">
              <a:extLst>
                <a:ext uri="{FF2B5EF4-FFF2-40B4-BE49-F238E27FC236}">
                  <a16:creationId xmlns:a16="http://schemas.microsoft.com/office/drawing/2014/main" id="{EB456C4D-B096-A5D7-C33E-957D1F2F4D3D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3" name="Google Shape;8687;p58">
            <a:extLst>
              <a:ext uri="{FF2B5EF4-FFF2-40B4-BE49-F238E27FC236}">
                <a16:creationId xmlns:a16="http://schemas.microsoft.com/office/drawing/2014/main" id="{105DA558-7173-E5E1-DD2D-07CA3A81F543}"/>
              </a:ext>
            </a:extLst>
          </p:cNvPr>
          <p:cNvGrpSpPr/>
          <p:nvPr/>
        </p:nvGrpSpPr>
        <p:grpSpPr>
          <a:xfrm flipV="1">
            <a:off x="3612662" y="4580791"/>
            <a:ext cx="1101807" cy="95367"/>
            <a:chOff x="3465975" y="2270276"/>
            <a:chExt cx="1986364" cy="171929"/>
          </a:xfrm>
          <a:solidFill>
            <a:schemeClr val="bg1"/>
          </a:solidFill>
        </p:grpSpPr>
        <p:sp>
          <p:nvSpPr>
            <p:cNvPr id="4" name="Google Shape;8688;p58">
              <a:extLst>
                <a:ext uri="{FF2B5EF4-FFF2-40B4-BE49-F238E27FC236}">
                  <a16:creationId xmlns:a16="http://schemas.microsoft.com/office/drawing/2014/main" id="{32D8AA08-96A7-8BD7-70C4-86B7556AA863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689;p58">
              <a:extLst>
                <a:ext uri="{FF2B5EF4-FFF2-40B4-BE49-F238E27FC236}">
                  <a16:creationId xmlns:a16="http://schemas.microsoft.com/office/drawing/2014/main" id="{B658E5FA-8E1F-2D70-726E-B046A386304C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8690;p58">
              <a:extLst>
                <a:ext uri="{FF2B5EF4-FFF2-40B4-BE49-F238E27FC236}">
                  <a16:creationId xmlns:a16="http://schemas.microsoft.com/office/drawing/2014/main" id="{8C09B311-B2FD-C5D0-6FBD-3BA56179FC59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691;p58">
              <a:extLst>
                <a:ext uri="{FF2B5EF4-FFF2-40B4-BE49-F238E27FC236}">
                  <a16:creationId xmlns:a16="http://schemas.microsoft.com/office/drawing/2014/main" id="{9A72C527-8371-CC68-0983-685E6E8BB369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8692;p58">
              <a:extLst>
                <a:ext uri="{FF2B5EF4-FFF2-40B4-BE49-F238E27FC236}">
                  <a16:creationId xmlns:a16="http://schemas.microsoft.com/office/drawing/2014/main" id="{11858020-ADA5-CA0B-F10D-EAE9A394E400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693;p58">
              <a:extLst>
                <a:ext uri="{FF2B5EF4-FFF2-40B4-BE49-F238E27FC236}">
                  <a16:creationId xmlns:a16="http://schemas.microsoft.com/office/drawing/2014/main" id="{27FF59B6-0E5B-8256-0956-FE3383017C05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8694;p58">
              <a:extLst>
                <a:ext uri="{FF2B5EF4-FFF2-40B4-BE49-F238E27FC236}">
                  <a16:creationId xmlns:a16="http://schemas.microsoft.com/office/drawing/2014/main" id="{20012E2C-50D5-3393-7ABF-C4F295059D43}"/>
                </a:ext>
              </a:extLst>
            </p:cNvPr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695;p58">
              <a:extLst>
                <a:ext uri="{FF2B5EF4-FFF2-40B4-BE49-F238E27FC236}">
                  <a16:creationId xmlns:a16="http://schemas.microsoft.com/office/drawing/2014/main" id="{F22904E1-8208-445D-3537-86F6FA3E307F}"/>
                </a:ext>
              </a:extLst>
            </p:cNvPr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89CA650-529B-6A7A-68C7-EB25CA742FEF}"/>
              </a:ext>
            </a:extLst>
          </p:cNvPr>
          <p:cNvGrpSpPr/>
          <p:nvPr/>
        </p:nvGrpSpPr>
        <p:grpSpPr>
          <a:xfrm>
            <a:off x="504150" y="2082381"/>
            <a:ext cx="8133080" cy="1434542"/>
            <a:chOff x="739854" y="1291171"/>
            <a:chExt cx="7127330" cy="1076223"/>
          </a:xfrm>
          <a:solidFill>
            <a:schemeClr val="tx2"/>
          </a:solidFill>
        </p:grpSpPr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BC7C2F94-A1D8-4FEA-4D77-FE8A66BBE34D}"/>
                </a:ext>
              </a:extLst>
            </p:cNvPr>
            <p:cNvGrpSpPr/>
            <p:nvPr/>
          </p:nvGrpSpPr>
          <p:grpSpPr>
            <a:xfrm>
              <a:off x="739854" y="1291171"/>
              <a:ext cx="7127328" cy="1076223"/>
              <a:chOff x="739854" y="1291171"/>
              <a:chExt cx="7127328" cy="1076223"/>
            </a:xfrm>
            <a:grpFill/>
          </p:grpSpPr>
          <p:grpSp>
            <p:nvGrpSpPr>
              <p:cNvPr id="16" name="Google Shape;7889;p55">
                <a:extLst>
                  <a:ext uri="{FF2B5EF4-FFF2-40B4-BE49-F238E27FC236}">
                    <a16:creationId xmlns:a16="http://schemas.microsoft.com/office/drawing/2014/main" id="{FCF9E3AF-1A98-6C4C-35A7-E7ECED246EF8}"/>
                  </a:ext>
                </a:extLst>
              </p:cNvPr>
              <p:cNvGrpSpPr/>
              <p:nvPr/>
            </p:nvGrpSpPr>
            <p:grpSpPr>
              <a:xfrm>
                <a:off x="739854" y="1291171"/>
                <a:ext cx="3160367" cy="1076223"/>
                <a:chOff x="6894650" y="2574740"/>
                <a:chExt cx="1445100" cy="492111"/>
              </a:xfrm>
              <a:grpFill/>
            </p:grpSpPr>
            <p:sp>
              <p:nvSpPr>
                <p:cNvPr id="24" name="Google Shape;7890;p55">
                  <a:extLst>
                    <a:ext uri="{FF2B5EF4-FFF2-40B4-BE49-F238E27FC236}">
                      <a16:creationId xmlns:a16="http://schemas.microsoft.com/office/drawing/2014/main" id="{D7E0D0BF-45EA-F4BF-0979-120495BFA466}"/>
                    </a:ext>
                  </a:extLst>
                </p:cNvPr>
                <p:cNvSpPr/>
                <p:nvPr/>
              </p:nvSpPr>
              <p:spPr>
                <a:xfrm>
                  <a:off x="7151862" y="2854413"/>
                  <a:ext cx="414806" cy="212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1" h="6392" extrusionOk="0">
                      <a:moveTo>
                        <a:pt x="2" y="0"/>
                      </a:moveTo>
                      <a:lnTo>
                        <a:pt x="2" y="66"/>
                      </a:lnTo>
                      <a:cubicBezTo>
                        <a:pt x="0" y="3558"/>
                        <a:pt x="2794" y="6391"/>
                        <a:pt x="6241" y="6391"/>
                      </a:cubicBezTo>
                      <a:cubicBezTo>
                        <a:pt x="9687" y="6391"/>
                        <a:pt x="12481" y="3558"/>
                        <a:pt x="12481" y="66"/>
                      </a:cubicBezTo>
                      <a:lnTo>
                        <a:pt x="12481" y="0"/>
                      </a:lnTo>
                      <a:lnTo>
                        <a:pt x="7664" y="0"/>
                      </a:lnTo>
                      <a:cubicBezTo>
                        <a:pt x="7664" y="12"/>
                        <a:pt x="7666" y="23"/>
                        <a:pt x="7666" y="32"/>
                      </a:cubicBezTo>
                      <a:cubicBezTo>
                        <a:pt x="7666" y="838"/>
                        <a:pt x="7022" y="1490"/>
                        <a:pt x="6229" y="1490"/>
                      </a:cubicBezTo>
                      <a:cubicBezTo>
                        <a:pt x="5435" y="1490"/>
                        <a:pt x="4793" y="838"/>
                        <a:pt x="4793" y="32"/>
                      </a:cubicBezTo>
                      <a:cubicBezTo>
                        <a:pt x="4793" y="23"/>
                        <a:pt x="4795" y="12"/>
                        <a:pt x="4795" y="0"/>
                      </a:cubicBez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13 июня — </a:t>
                  </a:r>
                </a:p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17 июня</a:t>
                  </a:r>
                </a:p>
              </p:txBody>
            </p:sp>
            <p:sp>
              <p:nvSpPr>
                <p:cNvPr id="25" name="Google Shape;7891;p55">
                  <a:extLst>
                    <a:ext uri="{FF2B5EF4-FFF2-40B4-BE49-F238E27FC236}">
                      <a16:creationId xmlns:a16="http://schemas.microsoft.com/office/drawing/2014/main" id="{5D7A6D22-8025-1BF6-C24F-63050A9BF49E}"/>
                    </a:ext>
                  </a:extLst>
                </p:cNvPr>
                <p:cNvSpPr/>
                <p:nvPr/>
              </p:nvSpPr>
              <p:spPr>
                <a:xfrm>
                  <a:off x="7664213" y="2854413"/>
                  <a:ext cx="414806" cy="212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1" h="6392" extrusionOk="0">
                      <a:moveTo>
                        <a:pt x="2" y="0"/>
                      </a:moveTo>
                      <a:lnTo>
                        <a:pt x="2" y="66"/>
                      </a:lnTo>
                      <a:cubicBezTo>
                        <a:pt x="0" y="3558"/>
                        <a:pt x="2794" y="6391"/>
                        <a:pt x="6241" y="6391"/>
                      </a:cubicBezTo>
                      <a:cubicBezTo>
                        <a:pt x="9687" y="6391"/>
                        <a:pt x="12481" y="3558"/>
                        <a:pt x="12481" y="66"/>
                      </a:cubicBezTo>
                      <a:lnTo>
                        <a:pt x="12481" y="0"/>
                      </a:lnTo>
                      <a:lnTo>
                        <a:pt x="7664" y="0"/>
                      </a:lnTo>
                      <a:cubicBezTo>
                        <a:pt x="7664" y="12"/>
                        <a:pt x="7666" y="23"/>
                        <a:pt x="7666" y="32"/>
                      </a:cubicBezTo>
                      <a:cubicBezTo>
                        <a:pt x="7666" y="838"/>
                        <a:pt x="7022" y="1490"/>
                        <a:pt x="6229" y="1490"/>
                      </a:cubicBezTo>
                      <a:cubicBezTo>
                        <a:pt x="5437" y="1490"/>
                        <a:pt x="4793" y="838"/>
                        <a:pt x="4793" y="32"/>
                      </a:cubicBezTo>
                      <a:cubicBezTo>
                        <a:pt x="4793" y="23"/>
                        <a:pt x="4795" y="12"/>
                        <a:pt x="4795" y="0"/>
                      </a:cubicBez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ru-RU" sz="800" b="1" dirty="0">
                      <a:latin typeface="Consolas" panose="020B0609020204030204" pitchFamily="49" charset="0"/>
                    </a:rPr>
                    <a:t>24 июня — </a:t>
                  </a:r>
                </a:p>
                <a:p>
                  <a:pPr algn="ctr"/>
                  <a:r>
                    <a:rPr lang="ru-RU" sz="800" b="1" dirty="0">
                      <a:latin typeface="Consolas" panose="020B0609020204030204" pitchFamily="49" charset="0"/>
                    </a:rPr>
                    <a:t>27 июня</a:t>
                  </a:r>
                </a:p>
              </p:txBody>
            </p:sp>
            <p:sp>
              <p:nvSpPr>
                <p:cNvPr id="26" name="Google Shape;7892;p55">
                  <a:extLst>
                    <a:ext uri="{FF2B5EF4-FFF2-40B4-BE49-F238E27FC236}">
                      <a16:creationId xmlns:a16="http://schemas.microsoft.com/office/drawing/2014/main" id="{D7E068CB-F852-D26A-095F-844DB586C3FE}"/>
                    </a:ext>
                  </a:extLst>
                </p:cNvPr>
                <p:cNvSpPr/>
                <p:nvPr/>
              </p:nvSpPr>
              <p:spPr>
                <a:xfrm>
                  <a:off x="6895687" y="2575804"/>
                  <a:ext cx="420489" cy="212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2" h="6393" extrusionOk="0">
                      <a:moveTo>
                        <a:pt x="6326" y="0"/>
                      </a:moveTo>
                      <a:cubicBezTo>
                        <a:pt x="2832" y="0"/>
                        <a:pt x="1" y="2833"/>
                        <a:pt x="1" y="6326"/>
                      </a:cubicBezTo>
                      <a:lnTo>
                        <a:pt x="1" y="6393"/>
                      </a:lnTo>
                      <a:lnTo>
                        <a:pt x="4883" y="6393"/>
                      </a:lnTo>
                      <a:cubicBezTo>
                        <a:pt x="4883" y="6382"/>
                        <a:pt x="4882" y="6370"/>
                        <a:pt x="4882" y="6359"/>
                      </a:cubicBezTo>
                      <a:cubicBezTo>
                        <a:pt x="4882" y="5555"/>
                        <a:pt x="5534" y="4904"/>
                        <a:pt x="6337" y="4904"/>
                      </a:cubicBezTo>
                      <a:cubicBezTo>
                        <a:pt x="7141" y="4904"/>
                        <a:pt x="7793" y="5555"/>
                        <a:pt x="7793" y="6359"/>
                      </a:cubicBezTo>
                      <a:cubicBezTo>
                        <a:pt x="7793" y="6370"/>
                        <a:pt x="7791" y="6382"/>
                        <a:pt x="7791" y="6393"/>
                      </a:cubicBezTo>
                      <a:lnTo>
                        <a:pt x="12651" y="6393"/>
                      </a:lnTo>
                      <a:lnTo>
                        <a:pt x="12651" y="6326"/>
                      </a:lnTo>
                      <a:cubicBezTo>
                        <a:pt x="12651" y="2833"/>
                        <a:pt x="9820" y="0"/>
                        <a:pt x="6326" y="0"/>
                      </a:cubicBez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ru-RU" sz="800" b="1" dirty="0">
                      <a:latin typeface="Consolas" panose="020B0609020204030204" pitchFamily="49" charset="0"/>
                    </a:rPr>
                    <a:t>10 июня — </a:t>
                  </a:r>
                </a:p>
                <a:p>
                  <a:pPr algn="ctr"/>
                  <a:r>
                    <a:rPr lang="ru-RU" sz="800" b="1" dirty="0">
                      <a:latin typeface="Consolas" panose="020B0609020204030204" pitchFamily="49" charset="0"/>
                    </a:rPr>
                    <a:t>12 июня</a:t>
                  </a:r>
                </a:p>
              </p:txBody>
            </p:sp>
            <p:sp>
              <p:nvSpPr>
                <p:cNvPr id="27" name="Google Shape;7893;p55">
                  <a:extLst>
                    <a:ext uri="{FF2B5EF4-FFF2-40B4-BE49-F238E27FC236}">
                      <a16:creationId xmlns:a16="http://schemas.microsoft.com/office/drawing/2014/main" id="{82191974-D932-07A8-5AE5-716EB329B5E1}"/>
                    </a:ext>
                  </a:extLst>
                </p:cNvPr>
                <p:cNvSpPr/>
                <p:nvPr/>
              </p:nvSpPr>
              <p:spPr>
                <a:xfrm>
                  <a:off x="7399530" y="2574740"/>
                  <a:ext cx="420489" cy="212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2" h="6392" extrusionOk="0">
                      <a:moveTo>
                        <a:pt x="6326" y="0"/>
                      </a:moveTo>
                      <a:cubicBezTo>
                        <a:pt x="2832" y="0"/>
                        <a:pt x="1" y="2832"/>
                        <a:pt x="1" y="6326"/>
                      </a:cubicBezTo>
                      <a:lnTo>
                        <a:pt x="1" y="6391"/>
                      </a:lnTo>
                      <a:lnTo>
                        <a:pt x="4883" y="6391"/>
                      </a:lnTo>
                      <a:cubicBezTo>
                        <a:pt x="4883" y="6380"/>
                        <a:pt x="4882" y="6369"/>
                        <a:pt x="4882" y="6358"/>
                      </a:cubicBezTo>
                      <a:cubicBezTo>
                        <a:pt x="4882" y="5554"/>
                        <a:pt x="5533" y="4902"/>
                        <a:pt x="6337" y="4902"/>
                      </a:cubicBezTo>
                      <a:cubicBezTo>
                        <a:pt x="7141" y="4902"/>
                        <a:pt x="7793" y="5554"/>
                        <a:pt x="7793" y="6358"/>
                      </a:cubicBezTo>
                      <a:cubicBezTo>
                        <a:pt x="7793" y="6369"/>
                        <a:pt x="7791" y="6380"/>
                        <a:pt x="7791" y="6391"/>
                      </a:cubicBezTo>
                      <a:lnTo>
                        <a:pt x="12650" y="6391"/>
                      </a:lnTo>
                      <a:lnTo>
                        <a:pt x="12650" y="6326"/>
                      </a:lnTo>
                      <a:cubicBezTo>
                        <a:pt x="12651" y="2833"/>
                        <a:pt x="9819" y="0"/>
                        <a:pt x="6326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18 июня — </a:t>
                  </a:r>
                </a:p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23 июня</a:t>
                  </a:r>
                </a:p>
              </p:txBody>
            </p:sp>
            <p:sp>
              <p:nvSpPr>
                <p:cNvPr id="28" name="Google Shape;7894;p55">
                  <a:extLst>
                    <a:ext uri="{FF2B5EF4-FFF2-40B4-BE49-F238E27FC236}">
                      <a16:creationId xmlns:a16="http://schemas.microsoft.com/office/drawing/2014/main" id="{02BA4DFD-7CE1-DD22-23FE-4F1DF7F8451A}"/>
                    </a:ext>
                  </a:extLst>
                </p:cNvPr>
                <p:cNvSpPr/>
                <p:nvPr/>
              </p:nvSpPr>
              <p:spPr>
                <a:xfrm>
                  <a:off x="7911880" y="2574740"/>
                  <a:ext cx="420489" cy="212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2" h="6392" extrusionOk="0">
                      <a:moveTo>
                        <a:pt x="6326" y="0"/>
                      </a:moveTo>
                      <a:cubicBezTo>
                        <a:pt x="2832" y="0"/>
                        <a:pt x="1" y="2832"/>
                        <a:pt x="1" y="6326"/>
                      </a:cubicBezTo>
                      <a:lnTo>
                        <a:pt x="1" y="6391"/>
                      </a:lnTo>
                      <a:lnTo>
                        <a:pt x="4883" y="6391"/>
                      </a:lnTo>
                      <a:cubicBezTo>
                        <a:pt x="4883" y="6380"/>
                        <a:pt x="4882" y="6369"/>
                        <a:pt x="4882" y="6358"/>
                      </a:cubicBezTo>
                      <a:cubicBezTo>
                        <a:pt x="4882" y="5554"/>
                        <a:pt x="5533" y="4902"/>
                        <a:pt x="6337" y="4902"/>
                      </a:cubicBezTo>
                      <a:cubicBezTo>
                        <a:pt x="7141" y="4902"/>
                        <a:pt x="7793" y="5554"/>
                        <a:pt x="7793" y="6358"/>
                      </a:cubicBezTo>
                      <a:cubicBezTo>
                        <a:pt x="7793" y="6369"/>
                        <a:pt x="7791" y="6380"/>
                        <a:pt x="7791" y="6391"/>
                      </a:cubicBezTo>
                      <a:lnTo>
                        <a:pt x="12650" y="6391"/>
                      </a:lnTo>
                      <a:lnTo>
                        <a:pt x="12650" y="6326"/>
                      </a:lnTo>
                      <a:cubicBezTo>
                        <a:pt x="12651" y="2833"/>
                        <a:pt x="9819" y="0"/>
                        <a:pt x="6326" y="0"/>
                      </a:cubicBez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28 июня — </a:t>
                  </a:r>
                </a:p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29 июня</a:t>
                  </a:r>
                </a:p>
              </p:txBody>
            </p:sp>
            <p:cxnSp>
              <p:nvCxnSpPr>
                <p:cNvPr id="29" name="Google Shape;7895;p55">
                  <a:extLst>
                    <a:ext uri="{FF2B5EF4-FFF2-40B4-BE49-F238E27FC236}">
                      <a16:creationId xmlns:a16="http://schemas.microsoft.com/office/drawing/2014/main" id="{760F38F5-7356-7582-2EFB-284E49E559FD}"/>
                    </a:ext>
                  </a:extLst>
                </p:cNvPr>
                <p:cNvCxnSpPr/>
                <p:nvPr/>
              </p:nvCxnSpPr>
              <p:spPr>
                <a:xfrm>
                  <a:off x="6894650" y="2821921"/>
                  <a:ext cx="1445100" cy="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chemeClr val="tx2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7" name="Google Shape;7889;p55">
                <a:extLst>
                  <a:ext uri="{FF2B5EF4-FFF2-40B4-BE49-F238E27FC236}">
                    <a16:creationId xmlns:a16="http://schemas.microsoft.com/office/drawing/2014/main" id="{AB54A9E0-07A1-003B-3555-0C2F8DBC42B4}"/>
                  </a:ext>
                </a:extLst>
              </p:cNvPr>
              <p:cNvGrpSpPr/>
              <p:nvPr/>
            </p:nvGrpSpPr>
            <p:grpSpPr>
              <a:xfrm>
                <a:off x="3900219" y="1291171"/>
                <a:ext cx="3966963" cy="1076223"/>
                <a:chOff x="6777448" y="2574740"/>
                <a:chExt cx="1813922" cy="492111"/>
              </a:xfrm>
              <a:grpFill/>
            </p:grpSpPr>
            <p:sp>
              <p:nvSpPr>
                <p:cNvPr id="18" name="Google Shape;7890;p55">
                  <a:extLst>
                    <a:ext uri="{FF2B5EF4-FFF2-40B4-BE49-F238E27FC236}">
                      <a16:creationId xmlns:a16="http://schemas.microsoft.com/office/drawing/2014/main" id="{CD17EE14-2DFB-C49F-8175-4CA52DFFA328}"/>
                    </a:ext>
                  </a:extLst>
                </p:cNvPr>
                <p:cNvSpPr/>
                <p:nvPr/>
              </p:nvSpPr>
              <p:spPr>
                <a:xfrm>
                  <a:off x="7151862" y="2854413"/>
                  <a:ext cx="414806" cy="212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1" h="6392" extrusionOk="0">
                      <a:moveTo>
                        <a:pt x="2" y="0"/>
                      </a:moveTo>
                      <a:lnTo>
                        <a:pt x="2" y="66"/>
                      </a:lnTo>
                      <a:cubicBezTo>
                        <a:pt x="0" y="3558"/>
                        <a:pt x="2794" y="6391"/>
                        <a:pt x="6241" y="6391"/>
                      </a:cubicBezTo>
                      <a:cubicBezTo>
                        <a:pt x="9687" y="6391"/>
                        <a:pt x="12481" y="3558"/>
                        <a:pt x="12481" y="66"/>
                      </a:cubicBezTo>
                      <a:lnTo>
                        <a:pt x="12481" y="0"/>
                      </a:lnTo>
                      <a:lnTo>
                        <a:pt x="7664" y="0"/>
                      </a:lnTo>
                      <a:cubicBezTo>
                        <a:pt x="7664" y="12"/>
                        <a:pt x="7666" y="23"/>
                        <a:pt x="7666" y="32"/>
                      </a:cubicBezTo>
                      <a:cubicBezTo>
                        <a:pt x="7666" y="838"/>
                        <a:pt x="7022" y="1490"/>
                        <a:pt x="6229" y="1490"/>
                      </a:cubicBezTo>
                      <a:cubicBezTo>
                        <a:pt x="5435" y="1490"/>
                        <a:pt x="4793" y="838"/>
                        <a:pt x="4793" y="32"/>
                      </a:cubicBezTo>
                      <a:cubicBezTo>
                        <a:pt x="4793" y="23"/>
                        <a:pt x="4795" y="12"/>
                        <a:pt x="4795" y="0"/>
                      </a:cubicBez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3 июля — </a:t>
                  </a:r>
                </a:p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4 июля</a:t>
                  </a:r>
                </a:p>
              </p:txBody>
            </p:sp>
            <p:sp>
              <p:nvSpPr>
                <p:cNvPr id="19" name="Google Shape;7891;p55">
                  <a:extLst>
                    <a:ext uri="{FF2B5EF4-FFF2-40B4-BE49-F238E27FC236}">
                      <a16:creationId xmlns:a16="http://schemas.microsoft.com/office/drawing/2014/main" id="{8D5A2694-6B0B-BCBE-25B4-474F5F2ECD54}"/>
                    </a:ext>
                  </a:extLst>
                </p:cNvPr>
                <p:cNvSpPr/>
                <p:nvPr/>
              </p:nvSpPr>
              <p:spPr>
                <a:xfrm>
                  <a:off x="7664213" y="2854413"/>
                  <a:ext cx="414806" cy="212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1" h="6392" extrusionOk="0">
                      <a:moveTo>
                        <a:pt x="2" y="0"/>
                      </a:moveTo>
                      <a:lnTo>
                        <a:pt x="2" y="66"/>
                      </a:lnTo>
                      <a:cubicBezTo>
                        <a:pt x="0" y="3558"/>
                        <a:pt x="2794" y="6391"/>
                        <a:pt x="6241" y="6391"/>
                      </a:cubicBezTo>
                      <a:cubicBezTo>
                        <a:pt x="9687" y="6391"/>
                        <a:pt x="12481" y="3558"/>
                        <a:pt x="12481" y="66"/>
                      </a:cubicBezTo>
                      <a:lnTo>
                        <a:pt x="12481" y="0"/>
                      </a:lnTo>
                      <a:lnTo>
                        <a:pt x="7664" y="0"/>
                      </a:lnTo>
                      <a:cubicBezTo>
                        <a:pt x="7664" y="12"/>
                        <a:pt x="7666" y="23"/>
                        <a:pt x="7666" y="32"/>
                      </a:cubicBezTo>
                      <a:cubicBezTo>
                        <a:pt x="7666" y="838"/>
                        <a:pt x="7022" y="1490"/>
                        <a:pt x="6229" y="1490"/>
                      </a:cubicBezTo>
                      <a:cubicBezTo>
                        <a:pt x="5437" y="1490"/>
                        <a:pt x="4793" y="838"/>
                        <a:pt x="4793" y="32"/>
                      </a:cubicBezTo>
                      <a:cubicBezTo>
                        <a:pt x="4793" y="23"/>
                        <a:pt x="4795" y="12"/>
                        <a:pt x="4795" y="0"/>
                      </a:cubicBezTo>
                      <a:close/>
                    </a:path>
                  </a:pathLst>
                </a:custGeom>
                <a:grpFill/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8 июля</a:t>
                  </a:r>
                </a:p>
              </p:txBody>
            </p:sp>
            <p:sp>
              <p:nvSpPr>
                <p:cNvPr id="20" name="Google Shape;7892;p55">
                  <a:extLst>
                    <a:ext uri="{FF2B5EF4-FFF2-40B4-BE49-F238E27FC236}">
                      <a16:creationId xmlns:a16="http://schemas.microsoft.com/office/drawing/2014/main" id="{4D88669F-40B5-4DF3-5054-7CEF73606B85}"/>
                    </a:ext>
                  </a:extLst>
                </p:cNvPr>
                <p:cNvSpPr/>
                <p:nvPr/>
              </p:nvSpPr>
              <p:spPr>
                <a:xfrm>
                  <a:off x="6895687" y="2575804"/>
                  <a:ext cx="420489" cy="212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2" h="6393" extrusionOk="0">
                      <a:moveTo>
                        <a:pt x="6326" y="0"/>
                      </a:moveTo>
                      <a:cubicBezTo>
                        <a:pt x="2832" y="0"/>
                        <a:pt x="1" y="2833"/>
                        <a:pt x="1" y="6326"/>
                      </a:cubicBezTo>
                      <a:lnTo>
                        <a:pt x="1" y="6393"/>
                      </a:lnTo>
                      <a:lnTo>
                        <a:pt x="4883" y="6393"/>
                      </a:lnTo>
                      <a:cubicBezTo>
                        <a:pt x="4883" y="6382"/>
                        <a:pt x="4882" y="6370"/>
                        <a:pt x="4882" y="6359"/>
                      </a:cubicBezTo>
                      <a:cubicBezTo>
                        <a:pt x="4882" y="5555"/>
                        <a:pt x="5534" y="4904"/>
                        <a:pt x="6337" y="4904"/>
                      </a:cubicBezTo>
                      <a:cubicBezTo>
                        <a:pt x="7141" y="4904"/>
                        <a:pt x="7793" y="5555"/>
                        <a:pt x="7793" y="6359"/>
                      </a:cubicBezTo>
                      <a:cubicBezTo>
                        <a:pt x="7793" y="6370"/>
                        <a:pt x="7791" y="6382"/>
                        <a:pt x="7791" y="6393"/>
                      </a:cubicBezTo>
                      <a:lnTo>
                        <a:pt x="12651" y="6393"/>
                      </a:lnTo>
                      <a:lnTo>
                        <a:pt x="12651" y="6326"/>
                      </a:lnTo>
                      <a:cubicBezTo>
                        <a:pt x="12651" y="2833"/>
                        <a:pt x="9820" y="0"/>
                        <a:pt x="6326" y="0"/>
                      </a:cubicBezTo>
                      <a:close/>
                    </a:path>
                  </a:pathLst>
                </a:custGeom>
                <a:grpFill/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2 июля</a:t>
                  </a:r>
                </a:p>
              </p:txBody>
            </p:sp>
            <p:sp>
              <p:nvSpPr>
                <p:cNvPr id="21" name="Google Shape;7893;p55">
                  <a:extLst>
                    <a:ext uri="{FF2B5EF4-FFF2-40B4-BE49-F238E27FC236}">
                      <a16:creationId xmlns:a16="http://schemas.microsoft.com/office/drawing/2014/main" id="{6BAEEC82-1A4E-BDD5-4D96-03CFB579CC38}"/>
                    </a:ext>
                  </a:extLst>
                </p:cNvPr>
                <p:cNvSpPr/>
                <p:nvPr/>
              </p:nvSpPr>
              <p:spPr>
                <a:xfrm>
                  <a:off x="7399530" y="2574740"/>
                  <a:ext cx="420489" cy="212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2" h="6392" extrusionOk="0">
                      <a:moveTo>
                        <a:pt x="6326" y="0"/>
                      </a:moveTo>
                      <a:cubicBezTo>
                        <a:pt x="2832" y="0"/>
                        <a:pt x="1" y="2832"/>
                        <a:pt x="1" y="6326"/>
                      </a:cubicBezTo>
                      <a:lnTo>
                        <a:pt x="1" y="6391"/>
                      </a:lnTo>
                      <a:lnTo>
                        <a:pt x="4883" y="6391"/>
                      </a:lnTo>
                      <a:cubicBezTo>
                        <a:pt x="4883" y="6380"/>
                        <a:pt x="4882" y="6369"/>
                        <a:pt x="4882" y="6358"/>
                      </a:cubicBezTo>
                      <a:cubicBezTo>
                        <a:pt x="4882" y="5554"/>
                        <a:pt x="5533" y="4902"/>
                        <a:pt x="6337" y="4902"/>
                      </a:cubicBezTo>
                      <a:cubicBezTo>
                        <a:pt x="7141" y="4902"/>
                        <a:pt x="7793" y="5554"/>
                        <a:pt x="7793" y="6358"/>
                      </a:cubicBezTo>
                      <a:cubicBezTo>
                        <a:pt x="7793" y="6369"/>
                        <a:pt x="7791" y="6380"/>
                        <a:pt x="7791" y="6391"/>
                      </a:cubicBezTo>
                      <a:lnTo>
                        <a:pt x="12650" y="6391"/>
                      </a:lnTo>
                      <a:lnTo>
                        <a:pt x="12650" y="6326"/>
                      </a:lnTo>
                      <a:cubicBezTo>
                        <a:pt x="12651" y="2833"/>
                        <a:pt x="9819" y="0"/>
                        <a:pt x="6326" y="0"/>
                      </a:cubicBez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5 июля — </a:t>
                  </a:r>
                </a:p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7 июля</a:t>
                  </a:r>
                </a:p>
              </p:txBody>
            </p:sp>
            <p:sp>
              <p:nvSpPr>
                <p:cNvPr id="22" name="Google Shape;7894;p55">
                  <a:extLst>
                    <a:ext uri="{FF2B5EF4-FFF2-40B4-BE49-F238E27FC236}">
                      <a16:creationId xmlns:a16="http://schemas.microsoft.com/office/drawing/2014/main" id="{B3652596-687C-0DF8-5847-441D215B9F21}"/>
                    </a:ext>
                  </a:extLst>
                </p:cNvPr>
                <p:cNvSpPr/>
                <p:nvPr/>
              </p:nvSpPr>
              <p:spPr>
                <a:xfrm>
                  <a:off x="7911880" y="2574740"/>
                  <a:ext cx="420489" cy="212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2" h="6392" extrusionOk="0">
                      <a:moveTo>
                        <a:pt x="6326" y="0"/>
                      </a:moveTo>
                      <a:cubicBezTo>
                        <a:pt x="2832" y="0"/>
                        <a:pt x="1" y="2832"/>
                        <a:pt x="1" y="6326"/>
                      </a:cubicBezTo>
                      <a:lnTo>
                        <a:pt x="1" y="6391"/>
                      </a:lnTo>
                      <a:lnTo>
                        <a:pt x="4883" y="6391"/>
                      </a:lnTo>
                      <a:cubicBezTo>
                        <a:pt x="4883" y="6380"/>
                        <a:pt x="4882" y="6369"/>
                        <a:pt x="4882" y="6358"/>
                      </a:cubicBezTo>
                      <a:cubicBezTo>
                        <a:pt x="4882" y="5554"/>
                        <a:pt x="5533" y="4902"/>
                        <a:pt x="6337" y="4902"/>
                      </a:cubicBezTo>
                      <a:cubicBezTo>
                        <a:pt x="7141" y="4902"/>
                        <a:pt x="7793" y="5554"/>
                        <a:pt x="7793" y="6358"/>
                      </a:cubicBezTo>
                      <a:cubicBezTo>
                        <a:pt x="7793" y="6369"/>
                        <a:pt x="7791" y="6380"/>
                        <a:pt x="7791" y="6391"/>
                      </a:cubicBezTo>
                      <a:lnTo>
                        <a:pt x="12650" y="6391"/>
                      </a:lnTo>
                      <a:lnTo>
                        <a:pt x="12650" y="6326"/>
                      </a:lnTo>
                      <a:cubicBezTo>
                        <a:pt x="12651" y="2833"/>
                        <a:pt x="9819" y="0"/>
                        <a:pt x="6326" y="0"/>
                      </a:cubicBezTo>
                      <a:close/>
                    </a:path>
                  </a:pathLst>
                </a:custGeom>
                <a:grpFill/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9 июля — </a:t>
                  </a:r>
                </a:p>
                <a:p>
                  <a:pPr algn="ctr"/>
                  <a:r>
                    <a:rPr lang="ru-RU" sz="800" b="1" dirty="0">
                      <a:solidFill>
                        <a:schemeClr val="bg1"/>
                      </a:solidFill>
                      <a:latin typeface="Consolas" panose="020B0609020204030204" pitchFamily="49" charset="0"/>
                    </a:rPr>
                    <a:t>10 июля</a:t>
                  </a:r>
                </a:p>
              </p:txBody>
            </p:sp>
            <p:cxnSp>
              <p:nvCxnSpPr>
                <p:cNvPr id="23" name="Google Shape;7895;p55">
                  <a:extLst>
                    <a:ext uri="{FF2B5EF4-FFF2-40B4-BE49-F238E27FC236}">
                      <a16:creationId xmlns:a16="http://schemas.microsoft.com/office/drawing/2014/main" id="{3644212F-9061-CFE4-6CB2-B4AD263D80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77448" y="2821921"/>
                  <a:ext cx="1813922" cy="0"/>
                </a:xfrm>
                <a:prstGeom prst="straightConnector1">
                  <a:avLst/>
                </a:prstGeom>
                <a:grpFill/>
                <a:ln w="9525" cap="flat" cmpd="sng">
                  <a:solidFill>
                    <a:schemeClr val="tx2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4" name="Google Shape;7890;p55">
              <a:extLst>
                <a:ext uri="{FF2B5EF4-FFF2-40B4-BE49-F238E27FC236}">
                  <a16:creationId xmlns:a16="http://schemas.microsoft.com/office/drawing/2014/main" id="{D89A7185-AC11-54BD-40B0-24FA896D5B4E}"/>
                </a:ext>
              </a:extLst>
            </p:cNvPr>
            <p:cNvSpPr/>
            <p:nvPr/>
          </p:nvSpPr>
          <p:spPr>
            <a:xfrm>
              <a:off x="3517930" y="1902802"/>
              <a:ext cx="907162" cy="464592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5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ru-RU" sz="8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30 июня — </a:t>
              </a:r>
            </a:p>
            <a:p>
              <a:pPr algn="ctr"/>
              <a:r>
                <a:rPr lang="ru-RU" sz="8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1 июля</a:t>
              </a:r>
            </a:p>
          </p:txBody>
        </p:sp>
        <p:sp>
          <p:nvSpPr>
            <p:cNvPr id="15" name="Google Shape;7890;p55">
              <a:extLst>
                <a:ext uri="{FF2B5EF4-FFF2-40B4-BE49-F238E27FC236}">
                  <a16:creationId xmlns:a16="http://schemas.microsoft.com/office/drawing/2014/main" id="{1AA9E379-DC03-DB03-AD5C-6F5D3ECEC1C6}"/>
                </a:ext>
              </a:extLst>
            </p:cNvPr>
            <p:cNvSpPr/>
            <p:nvPr/>
          </p:nvSpPr>
          <p:spPr>
            <a:xfrm>
              <a:off x="6960022" y="1902802"/>
              <a:ext cx="907162" cy="464592"/>
            </a:xfrm>
            <a:custGeom>
              <a:avLst/>
              <a:gdLst/>
              <a:ahLst/>
              <a:cxnLst/>
              <a:rect l="l" t="t" r="r" b="b"/>
              <a:pathLst>
                <a:path w="12481" h="6392" extrusionOk="0">
                  <a:moveTo>
                    <a:pt x="2" y="0"/>
                  </a:moveTo>
                  <a:lnTo>
                    <a:pt x="2" y="66"/>
                  </a:lnTo>
                  <a:cubicBezTo>
                    <a:pt x="0" y="3558"/>
                    <a:pt x="2794" y="6391"/>
                    <a:pt x="6241" y="6391"/>
                  </a:cubicBezTo>
                  <a:cubicBezTo>
                    <a:pt x="9687" y="6391"/>
                    <a:pt x="12481" y="3558"/>
                    <a:pt x="12481" y="66"/>
                  </a:cubicBezTo>
                  <a:lnTo>
                    <a:pt x="12481" y="0"/>
                  </a:lnTo>
                  <a:lnTo>
                    <a:pt x="7664" y="0"/>
                  </a:lnTo>
                  <a:cubicBezTo>
                    <a:pt x="7664" y="12"/>
                    <a:pt x="7666" y="23"/>
                    <a:pt x="7666" y="32"/>
                  </a:cubicBezTo>
                  <a:cubicBezTo>
                    <a:pt x="7666" y="838"/>
                    <a:pt x="7022" y="1490"/>
                    <a:pt x="6229" y="1490"/>
                  </a:cubicBezTo>
                  <a:cubicBezTo>
                    <a:pt x="5435" y="1490"/>
                    <a:pt x="4793" y="838"/>
                    <a:pt x="4793" y="32"/>
                  </a:cubicBezTo>
                  <a:cubicBezTo>
                    <a:pt x="4793" y="23"/>
                    <a:pt x="4795" y="12"/>
                    <a:pt x="4795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ru-RU" sz="8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11 июля</a:t>
              </a:r>
            </a:p>
          </p:txBody>
        </p:sp>
      </p:grpSp>
      <p:sp>
        <p:nvSpPr>
          <p:cNvPr id="30" name="Заголовок 5">
            <a:extLst>
              <a:ext uri="{FF2B5EF4-FFF2-40B4-BE49-F238E27FC236}">
                <a16:creationId xmlns:a16="http://schemas.microsoft.com/office/drawing/2014/main" id="{7829D914-127E-1FC6-1FE8-E8A52C3E93B5}"/>
              </a:ext>
            </a:extLst>
          </p:cNvPr>
          <p:cNvSpPr txBox="1">
            <a:spLocks/>
          </p:cNvSpPr>
          <p:nvPr/>
        </p:nvSpPr>
        <p:spPr>
          <a:xfrm>
            <a:off x="1204781" y="467342"/>
            <a:ext cx="368436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dirty="0">
                <a:solidFill>
                  <a:schemeClr val="tx2"/>
                </a:solidFill>
              </a:rPr>
              <a:t>ДОРОЖНАЯ КАРТА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41E908-D302-8991-0174-40142D5FA954}"/>
              </a:ext>
            </a:extLst>
          </p:cNvPr>
          <p:cNvSpPr txBox="1"/>
          <p:nvPr/>
        </p:nvSpPr>
        <p:spPr>
          <a:xfrm>
            <a:off x="435215" y="1626181"/>
            <a:ext cx="11781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Подготовка проекта и архитектуры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8FDFD6-5CA3-24E5-44EB-008A5DAA8552}"/>
              </a:ext>
            </a:extLst>
          </p:cNvPr>
          <p:cNvSpPr txBox="1"/>
          <p:nvPr/>
        </p:nvSpPr>
        <p:spPr>
          <a:xfrm>
            <a:off x="1031415" y="3600765"/>
            <a:ext cx="11842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Реализация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nybody" panose="020B0604020202020204" charset="0"/>
              </a:rPr>
              <a:t>Payments Service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C5042C-3608-F620-6788-6103A9CE82EA}"/>
              </a:ext>
            </a:extLst>
          </p:cNvPr>
          <p:cNvSpPr txBox="1"/>
          <p:nvPr/>
        </p:nvSpPr>
        <p:spPr>
          <a:xfrm>
            <a:off x="1744137" y="1626181"/>
            <a:ext cx="1049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Реализация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nybody" panose="020B0604020202020204" charset="0"/>
              </a:rPr>
              <a:t>Orders Service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  <a:latin typeface="Anybody" panose="020B0604020202020204" charset="0"/>
              </a:rPr>
              <a:t>                          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Anybody" panose="020B060402020202020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CCB82C-38F3-3257-BAF9-B25047FB54A4}"/>
              </a:ext>
            </a:extLst>
          </p:cNvPr>
          <p:cNvSpPr txBox="1"/>
          <p:nvPr/>
        </p:nvSpPr>
        <p:spPr>
          <a:xfrm>
            <a:off x="2413580" y="3598131"/>
            <a:ext cx="11196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Настройка брокера и асинхронности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6E7CB9-C976-59C2-3469-192981DD4BE0}"/>
              </a:ext>
            </a:extLst>
          </p:cNvPr>
          <p:cNvSpPr txBox="1"/>
          <p:nvPr/>
        </p:nvSpPr>
        <p:spPr>
          <a:xfrm>
            <a:off x="3008556" y="1626181"/>
            <a:ext cx="1049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Реализация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nybody" panose="020B0604020202020204" charset="0"/>
              </a:rPr>
              <a:t>API Gateway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F890E8-29B2-8EDC-C204-DD832B4FDE4B}"/>
              </a:ext>
            </a:extLst>
          </p:cNvPr>
          <p:cNvSpPr txBox="1"/>
          <p:nvPr/>
        </p:nvSpPr>
        <p:spPr>
          <a:xfrm>
            <a:off x="3664921" y="3602611"/>
            <a:ext cx="11842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Инфраструктура и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nybody" panose="020B0604020202020204" charset="0"/>
              </a:rPr>
              <a:t>docker-compose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F72D32-5253-D419-00C2-CF6CA4747B5F}"/>
              </a:ext>
            </a:extLst>
          </p:cNvPr>
          <p:cNvSpPr txBox="1"/>
          <p:nvPr/>
        </p:nvSpPr>
        <p:spPr>
          <a:xfrm>
            <a:off x="4432443" y="1754056"/>
            <a:ext cx="10493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nybody" panose="020B0604020202020204" charset="0"/>
              </a:rPr>
              <a:t>SQL-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аналитика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3419DA-2129-9A87-FC14-B736F643F650}"/>
              </a:ext>
            </a:extLst>
          </p:cNvPr>
          <p:cNvSpPr txBox="1"/>
          <p:nvPr/>
        </p:nvSpPr>
        <p:spPr>
          <a:xfrm>
            <a:off x="5030670" y="3603756"/>
            <a:ext cx="1049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Диаграммы и документация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137160-32F4-4050-5E1E-CFB2C5BFF0EA}"/>
              </a:ext>
            </a:extLst>
          </p:cNvPr>
          <p:cNvSpPr txBox="1"/>
          <p:nvPr/>
        </p:nvSpPr>
        <p:spPr>
          <a:xfrm>
            <a:off x="5696862" y="1749291"/>
            <a:ext cx="10493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Тестирование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8EED49-82EC-A7F5-A184-59DE4B16196A}"/>
              </a:ext>
            </a:extLst>
          </p:cNvPr>
          <p:cNvSpPr txBox="1"/>
          <p:nvPr/>
        </p:nvSpPr>
        <p:spPr>
          <a:xfrm>
            <a:off x="6346635" y="3598131"/>
            <a:ext cx="1049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Информационная безопасность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9FA3EC-0ECB-B66F-9655-81D36C45795D}"/>
              </a:ext>
            </a:extLst>
          </p:cNvPr>
          <p:cNvSpPr txBox="1"/>
          <p:nvPr/>
        </p:nvSpPr>
        <p:spPr>
          <a:xfrm>
            <a:off x="6941521" y="1626181"/>
            <a:ext cx="1200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Подготовка презентации и демо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09A887-6DEE-0077-D774-2D3EE5484298}"/>
              </a:ext>
            </a:extLst>
          </p:cNvPr>
          <p:cNvSpPr txBox="1"/>
          <p:nvPr/>
        </p:nvSpPr>
        <p:spPr>
          <a:xfrm>
            <a:off x="7662600" y="3598131"/>
            <a:ext cx="1049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Финальная проверка и сдача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6E3B94-9521-2942-0547-17AC6EE71B1E}"/>
              </a:ext>
            </a:extLst>
          </p:cNvPr>
          <p:cNvSpPr txBox="1"/>
          <p:nvPr/>
        </p:nvSpPr>
        <p:spPr>
          <a:xfrm>
            <a:off x="2969599" y="911093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ЭТАПЫ И СРОКИ РАЗРАБОТКИ</a:t>
            </a:r>
          </a:p>
        </p:txBody>
      </p:sp>
    </p:spTree>
    <p:extLst>
      <p:ext uri="{BB962C8B-B14F-4D97-AF65-F5344CB8AC3E}">
        <p14:creationId xmlns:p14="http://schemas.microsoft.com/office/powerpoint/2010/main" val="3304880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10289;p61">
            <a:extLst>
              <a:ext uri="{FF2B5EF4-FFF2-40B4-BE49-F238E27FC236}">
                <a16:creationId xmlns:a16="http://schemas.microsoft.com/office/drawing/2014/main" id="{1932BC42-4668-CDAF-3B0E-E9A9039C2BAD}"/>
              </a:ext>
            </a:extLst>
          </p:cNvPr>
          <p:cNvGrpSpPr/>
          <p:nvPr/>
        </p:nvGrpSpPr>
        <p:grpSpPr>
          <a:xfrm rot="554523">
            <a:off x="-37166" y="76250"/>
            <a:ext cx="1535885" cy="1143322"/>
            <a:chOff x="1754279" y="4286593"/>
            <a:chExt cx="351439" cy="345965"/>
          </a:xfrm>
          <a:solidFill>
            <a:schemeClr val="bg1"/>
          </a:solidFill>
        </p:grpSpPr>
        <p:sp>
          <p:nvSpPr>
            <p:cNvPr id="27" name="Google Shape;10290;p61">
              <a:extLst>
                <a:ext uri="{FF2B5EF4-FFF2-40B4-BE49-F238E27FC236}">
                  <a16:creationId xmlns:a16="http://schemas.microsoft.com/office/drawing/2014/main" id="{90E0505C-653E-C2F0-9DF7-71CC815C75E5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8" name="Google Shape;10291;p61">
              <a:extLst>
                <a:ext uri="{FF2B5EF4-FFF2-40B4-BE49-F238E27FC236}">
                  <a16:creationId xmlns:a16="http://schemas.microsoft.com/office/drawing/2014/main" id="{4E8D0291-10A2-6323-126F-EACE54CE5D34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9" name="Google Shape;10292;p61">
              <a:extLst>
                <a:ext uri="{FF2B5EF4-FFF2-40B4-BE49-F238E27FC236}">
                  <a16:creationId xmlns:a16="http://schemas.microsoft.com/office/drawing/2014/main" id="{39FCECC9-1910-F968-EFB1-1BB3603B6B3C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0" name="Google Shape;10293;p61">
              <a:extLst>
                <a:ext uri="{FF2B5EF4-FFF2-40B4-BE49-F238E27FC236}">
                  <a16:creationId xmlns:a16="http://schemas.microsoft.com/office/drawing/2014/main" id="{9356ACA3-AE8A-A39C-0FEC-17400CC60437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1" name="Google Shape;10294;p61">
              <a:extLst>
                <a:ext uri="{FF2B5EF4-FFF2-40B4-BE49-F238E27FC236}">
                  <a16:creationId xmlns:a16="http://schemas.microsoft.com/office/drawing/2014/main" id="{A6F4C6D5-CA87-76DD-5515-D2A656C7F890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2" name="Google Shape;8687;p58">
            <a:extLst>
              <a:ext uri="{FF2B5EF4-FFF2-40B4-BE49-F238E27FC236}">
                <a16:creationId xmlns:a16="http://schemas.microsoft.com/office/drawing/2014/main" id="{6B359F35-0934-0A98-C808-103E38755A3D}"/>
              </a:ext>
            </a:extLst>
          </p:cNvPr>
          <p:cNvGrpSpPr/>
          <p:nvPr/>
        </p:nvGrpSpPr>
        <p:grpSpPr>
          <a:xfrm flipV="1">
            <a:off x="3612662" y="4580791"/>
            <a:ext cx="1101807" cy="95367"/>
            <a:chOff x="3465975" y="2270276"/>
            <a:chExt cx="1986364" cy="171929"/>
          </a:xfrm>
          <a:solidFill>
            <a:schemeClr val="bg1"/>
          </a:solidFill>
        </p:grpSpPr>
        <p:sp>
          <p:nvSpPr>
            <p:cNvPr id="3" name="Google Shape;8688;p58">
              <a:extLst>
                <a:ext uri="{FF2B5EF4-FFF2-40B4-BE49-F238E27FC236}">
                  <a16:creationId xmlns:a16="http://schemas.microsoft.com/office/drawing/2014/main" id="{DCF24DE0-8086-19E4-E29F-1EAD24309B91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689;p58">
              <a:extLst>
                <a:ext uri="{FF2B5EF4-FFF2-40B4-BE49-F238E27FC236}">
                  <a16:creationId xmlns:a16="http://schemas.microsoft.com/office/drawing/2014/main" id="{8611C62B-E3C3-E34A-7D3B-3D0B15FB176D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8690;p58">
              <a:extLst>
                <a:ext uri="{FF2B5EF4-FFF2-40B4-BE49-F238E27FC236}">
                  <a16:creationId xmlns:a16="http://schemas.microsoft.com/office/drawing/2014/main" id="{D8E21104-B0A9-1A6D-13D5-26D9971C6603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691;p58">
              <a:extLst>
                <a:ext uri="{FF2B5EF4-FFF2-40B4-BE49-F238E27FC236}">
                  <a16:creationId xmlns:a16="http://schemas.microsoft.com/office/drawing/2014/main" id="{0C9837B8-1666-A204-8508-DBD1FA5F40E9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8692;p58">
              <a:extLst>
                <a:ext uri="{FF2B5EF4-FFF2-40B4-BE49-F238E27FC236}">
                  <a16:creationId xmlns:a16="http://schemas.microsoft.com/office/drawing/2014/main" id="{FEBFEC52-E237-5BBF-5D83-B803BF387009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693;p58">
              <a:extLst>
                <a:ext uri="{FF2B5EF4-FFF2-40B4-BE49-F238E27FC236}">
                  <a16:creationId xmlns:a16="http://schemas.microsoft.com/office/drawing/2014/main" id="{F281E586-832B-0631-9B2E-6FC75E5AD4FF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8694;p58">
              <a:extLst>
                <a:ext uri="{FF2B5EF4-FFF2-40B4-BE49-F238E27FC236}">
                  <a16:creationId xmlns:a16="http://schemas.microsoft.com/office/drawing/2014/main" id="{C1F366F4-693E-32D6-F37B-9CF0D8D0F651}"/>
                </a:ext>
              </a:extLst>
            </p:cNvPr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695;p58">
              <a:extLst>
                <a:ext uri="{FF2B5EF4-FFF2-40B4-BE49-F238E27FC236}">
                  <a16:creationId xmlns:a16="http://schemas.microsoft.com/office/drawing/2014/main" id="{80AA9AD9-0E76-0614-498E-4848D4473029}"/>
                </a:ext>
              </a:extLst>
            </p:cNvPr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5B3929AC-29B8-1C4B-A641-65757B693B7F}"/>
              </a:ext>
            </a:extLst>
          </p:cNvPr>
          <p:cNvSpPr txBox="1">
            <a:spLocks/>
          </p:cNvSpPr>
          <p:nvPr/>
        </p:nvSpPr>
        <p:spPr>
          <a:xfrm>
            <a:off x="1204781" y="467342"/>
            <a:ext cx="368436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2400" dirty="0">
                <a:solidFill>
                  <a:schemeClr val="tx2"/>
                </a:solidFill>
              </a:rPr>
              <a:t>СОБСТВЕННЫЕ ИДЕИ</a:t>
            </a:r>
          </a:p>
        </p:txBody>
      </p:sp>
      <p:grpSp>
        <p:nvGrpSpPr>
          <p:cNvPr id="13" name="Google Shape;9129;p59">
            <a:extLst>
              <a:ext uri="{FF2B5EF4-FFF2-40B4-BE49-F238E27FC236}">
                <a16:creationId xmlns:a16="http://schemas.microsoft.com/office/drawing/2014/main" id="{1624EF5E-F213-9DC7-3873-1F5EB582AFFB}"/>
              </a:ext>
            </a:extLst>
          </p:cNvPr>
          <p:cNvGrpSpPr/>
          <p:nvPr/>
        </p:nvGrpSpPr>
        <p:grpSpPr>
          <a:xfrm>
            <a:off x="512875" y="1140247"/>
            <a:ext cx="523609" cy="390478"/>
            <a:chOff x="5216456" y="3725484"/>
            <a:chExt cx="356196" cy="265631"/>
          </a:xfrm>
          <a:solidFill>
            <a:schemeClr val="tx2"/>
          </a:solidFill>
        </p:grpSpPr>
        <p:sp>
          <p:nvSpPr>
            <p:cNvPr id="14" name="Google Shape;9130;p59">
              <a:extLst>
                <a:ext uri="{FF2B5EF4-FFF2-40B4-BE49-F238E27FC236}">
                  <a16:creationId xmlns:a16="http://schemas.microsoft.com/office/drawing/2014/main" id="{7B46B3A0-A61C-3D7F-BF93-E04825A63251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131;p59">
              <a:extLst>
                <a:ext uri="{FF2B5EF4-FFF2-40B4-BE49-F238E27FC236}">
                  <a16:creationId xmlns:a16="http://schemas.microsoft.com/office/drawing/2014/main" id="{90D8E2BF-3318-56C0-8C9E-08BAC782B16B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FA57C21-6816-2AE2-3AA6-B32B78EACD6C}"/>
              </a:ext>
            </a:extLst>
          </p:cNvPr>
          <p:cNvSpPr txBox="1"/>
          <p:nvPr/>
        </p:nvSpPr>
        <p:spPr>
          <a:xfrm>
            <a:off x="443753" y="1630930"/>
            <a:ext cx="34318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>
                    <a:lumMod val="25000"/>
                  </a:schemeClr>
                </a:solidFill>
              </a:rPr>
              <a:t>Скрипты по запуску .</a:t>
            </a:r>
            <a:r>
              <a:rPr lang="en-US" dirty="0" err="1">
                <a:solidFill>
                  <a:schemeClr val="bg1">
                    <a:lumMod val="25000"/>
                  </a:schemeClr>
                </a:solidFill>
              </a:rPr>
              <a:t>sh</a:t>
            </a:r>
            <a:endParaRPr lang="ru-RU" dirty="0">
              <a:solidFill>
                <a:schemeClr val="bg1">
                  <a:lumMod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>
                    <a:lumMod val="25000"/>
                  </a:schemeClr>
                </a:solidFill>
              </a:rPr>
              <a:t>Разбивка на документы в </a:t>
            </a:r>
            <a:r>
              <a:rPr lang="en-US" dirty="0">
                <a:solidFill>
                  <a:schemeClr val="bg1">
                    <a:lumMod val="25000"/>
                  </a:schemeClr>
                </a:solidFill>
              </a:rPr>
              <a:t>/docs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>
                    <a:lumMod val="25000"/>
                  </a:schemeClr>
                </a:solidFill>
              </a:rPr>
              <a:t>В скриптах установка недостающих зависимостей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A821B27-9F2B-A99C-F161-E2688A7038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171"/>
          <a:stretch>
            <a:fillRect/>
          </a:stretch>
        </p:blipFill>
        <p:spPr>
          <a:xfrm>
            <a:off x="4098711" y="838291"/>
            <a:ext cx="4487171" cy="335636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grpSp>
        <p:nvGrpSpPr>
          <p:cNvPr id="22" name="Google Shape;9181;p59">
            <a:extLst>
              <a:ext uri="{FF2B5EF4-FFF2-40B4-BE49-F238E27FC236}">
                <a16:creationId xmlns:a16="http://schemas.microsoft.com/office/drawing/2014/main" id="{15966F87-BB1E-892D-706D-49629798BCC4}"/>
              </a:ext>
            </a:extLst>
          </p:cNvPr>
          <p:cNvGrpSpPr/>
          <p:nvPr/>
        </p:nvGrpSpPr>
        <p:grpSpPr>
          <a:xfrm>
            <a:off x="517477" y="2681100"/>
            <a:ext cx="466939" cy="468574"/>
            <a:chOff x="5779408" y="3699191"/>
            <a:chExt cx="317645" cy="318757"/>
          </a:xfrm>
          <a:solidFill>
            <a:schemeClr val="tx2"/>
          </a:solidFill>
        </p:grpSpPr>
        <p:sp>
          <p:nvSpPr>
            <p:cNvPr id="23" name="Google Shape;9182;p59">
              <a:extLst>
                <a:ext uri="{FF2B5EF4-FFF2-40B4-BE49-F238E27FC236}">
                  <a16:creationId xmlns:a16="http://schemas.microsoft.com/office/drawing/2014/main" id="{43E8914C-C900-BFEB-46AE-E84BE6030538}"/>
                </a:ext>
              </a:extLst>
            </p:cNvPr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183;p59">
              <a:extLst>
                <a:ext uri="{FF2B5EF4-FFF2-40B4-BE49-F238E27FC236}">
                  <a16:creationId xmlns:a16="http://schemas.microsoft.com/office/drawing/2014/main" id="{DDAA2FCE-387C-8DA6-38F9-D67AA59B4B7A}"/>
                </a:ext>
              </a:extLst>
            </p:cNvPr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F77A5E6-92BC-A84B-9C5E-8FC804AD52FD}"/>
              </a:ext>
            </a:extLst>
          </p:cNvPr>
          <p:cNvSpPr txBox="1"/>
          <p:nvPr/>
        </p:nvSpPr>
        <p:spPr>
          <a:xfrm>
            <a:off x="443753" y="3242982"/>
            <a:ext cx="32087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>
                    <a:lumMod val="25000"/>
                  </a:schemeClr>
                </a:solidFill>
              </a:rPr>
              <a:t>Не хватило времени на реализацию </a:t>
            </a:r>
            <a:r>
              <a:rPr lang="en-US" dirty="0">
                <a:solidFill>
                  <a:schemeClr val="bg1">
                    <a:lumMod val="25000"/>
                  </a:schemeClr>
                </a:solidFill>
              </a:rPr>
              <a:t>GUI</a:t>
            </a:r>
            <a:endParaRPr lang="ru-RU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088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5">
            <a:extLst>
              <a:ext uri="{FF2B5EF4-FFF2-40B4-BE49-F238E27FC236}">
                <a16:creationId xmlns:a16="http://schemas.microsoft.com/office/drawing/2014/main" id="{46AF17B3-5570-CDF4-0A10-FEB893CD4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647" y="711182"/>
            <a:ext cx="5778707" cy="572700"/>
          </a:xfrm>
        </p:spPr>
        <p:txBody>
          <a:bodyPr/>
          <a:lstStyle/>
          <a:p>
            <a:pPr algn="l"/>
            <a:r>
              <a:rPr lang="ru-RU" sz="2400" dirty="0">
                <a:solidFill>
                  <a:schemeClr val="tx2"/>
                </a:solidFill>
              </a:rPr>
              <a:t>ВЗАИМОДЕЙСТВИЕ МИКРОСЕРВИСОВ</a:t>
            </a:r>
          </a:p>
        </p:txBody>
      </p:sp>
      <p:grpSp>
        <p:nvGrpSpPr>
          <p:cNvPr id="5" name="Google Shape;8687;p58">
            <a:extLst>
              <a:ext uri="{FF2B5EF4-FFF2-40B4-BE49-F238E27FC236}">
                <a16:creationId xmlns:a16="http://schemas.microsoft.com/office/drawing/2014/main" id="{E2378D16-0389-56BC-E4A8-E7792BDCBEA1}"/>
              </a:ext>
            </a:extLst>
          </p:cNvPr>
          <p:cNvGrpSpPr/>
          <p:nvPr/>
        </p:nvGrpSpPr>
        <p:grpSpPr>
          <a:xfrm flipV="1">
            <a:off x="3612662" y="4580791"/>
            <a:ext cx="1101807" cy="95367"/>
            <a:chOff x="3465975" y="2270276"/>
            <a:chExt cx="1986364" cy="171929"/>
          </a:xfrm>
          <a:solidFill>
            <a:schemeClr val="bg1"/>
          </a:solidFill>
        </p:grpSpPr>
        <p:sp>
          <p:nvSpPr>
            <p:cNvPr id="6" name="Google Shape;8688;p58">
              <a:extLst>
                <a:ext uri="{FF2B5EF4-FFF2-40B4-BE49-F238E27FC236}">
                  <a16:creationId xmlns:a16="http://schemas.microsoft.com/office/drawing/2014/main" id="{B6804040-54D3-9D38-D415-E2509868F06C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8689;p58">
              <a:extLst>
                <a:ext uri="{FF2B5EF4-FFF2-40B4-BE49-F238E27FC236}">
                  <a16:creationId xmlns:a16="http://schemas.microsoft.com/office/drawing/2014/main" id="{3063DD0D-7D1B-E0D2-B8A8-9171C1313E2D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8690;p58">
              <a:extLst>
                <a:ext uri="{FF2B5EF4-FFF2-40B4-BE49-F238E27FC236}">
                  <a16:creationId xmlns:a16="http://schemas.microsoft.com/office/drawing/2014/main" id="{E3B54B39-B393-0A00-CF43-0ABE78ABC223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691;p58">
              <a:extLst>
                <a:ext uri="{FF2B5EF4-FFF2-40B4-BE49-F238E27FC236}">
                  <a16:creationId xmlns:a16="http://schemas.microsoft.com/office/drawing/2014/main" id="{6C59B685-8EE8-C88C-6BFD-E4AA33E772C4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8692;p58">
              <a:extLst>
                <a:ext uri="{FF2B5EF4-FFF2-40B4-BE49-F238E27FC236}">
                  <a16:creationId xmlns:a16="http://schemas.microsoft.com/office/drawing/2014/main" id="{9E7FC376-C575-0391-F1D4-294DDE0B21EF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693;p58">
              <a:extLst>
                <a:ext uri="{FF2B5EF4-FFF2-40B4-BE49-F238E27FC236}">
                  <a16:creationId xmlns:a16="http://schemas.microsoft.com/office/drawing/2014/main" id="{7F86D855-999A-04FC-E1D9-57213576A96C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8694;p58">
              <a:extLst>
                <a:ext uri="{FF2B5EF4-FFF2-40B4-BE49-F238E27FC236}">
                  <a16:creationId xmlns:a16="http://schemas.microsoft.com/office/drawing/2014/main" id="{404FF5A3-4E7E-B581-C4FD-2283F06E3D56}"/>
                </a:ext>
              </a:extLst>
            </p:cNvPr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695;p58">
              <a:extLst>
                <a:ext uri="{FF2B5EF4-FFF2-40B4-BE49-F238E27FC236}">
                  <a16:creationId xmlns:a16="http://schemas.microsoft.com/office/drawing/2014/main" id="{D6FAE55C-D81D-A9DA-AF05-367571E81DD4}"/>
                </a:ext>
              </a:extLst>
            </p:cNvPr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A62AAF5-4D5A-C756-3A61-63AB623C2F9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89729" y="1283882"/>
            <a:ext cx="2687250" cy="33445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CB05C1-AC9B-6DE1-5A9C-B3927EFE4DFD}"/>
              </a:ext>
            </a:extLst>
          </p:cNvPr>
          <p:cNvSpPr txBox="1"/>
          <p:nvPr/>
        </p:nvSpPr>
        <p:spPr>
          <a:xfrm>
            <a:off x="690105" y="1493143"/>
            <a:ext cx="29225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ПОТОК СОЗДАНИЯ ЗАКАЗА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1671B9-C976-9B19-4F89-407983B03C81}"/>
              </a:ext>
            </a:extLst>
          </p:cNvPr>
          <p:cNvSpPr txBox="1"/>
          <p:nvPr/>
        </p:nvSpPr>
        <p:spPr>
          <a:xfrm>
            <a:off x="2324317" y="1693198"/>
            <a:ext cx="11054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синхронная часть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76F32E-4C4F-C81C-E0D6-9A7DF973DE3F}"/>
                  </a:ext>
                </a:extLst>
              </p:cNvPr>
              <p:cNvSpPr txBox="1"/>
              <p:nvPr/>
            </p:nvSpPr>
            <p:spPr>
              <a:xfrm>
                <a:off x="1608078" y="1864698"/>
                <a:ext cx="3643312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000" dirty="0"/>
                  <a:t>Клиент</a:t>
                </a:r>
                <a14:m>
                  <m:oMath xmlns:m="http://schemas.openxmlformats.org/officeDocument/2006/math">
                    <m:r>
                      <a:rPr lang="ru-RU" sz="1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000" dirty="0"/>
                  <a:t>API Gateway: POST /</a:t>
                </a:r>
                <a:r>
                  <a:rPr lang="en-US" sz="1000" dirty="0" err="1"/>
                  <a:t>api</a:t>
                </a:r>
                <a:r>
                  <a:rPr lang="en-US" sz="1000" dirty="0"/>
                  <a:t>/v1/orders </a:t>
                </a:r>
                <a:r>
                  <a:rPr lang="ru-RU" sz="1000" dirty="0"/>
                  <a:t>с </a:t>
                </a:r>
                <a:r>
                  <a:rPr lang="en-US" sz="1000" dirty="0"/>
                  <a:t>X-User-Id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Gateway</a:t>
                </a:r>
                <a14:m>
                  <m:oMath xmlns:m="http://schemas.openxmlformats.org/officeDocument/2006/math">
                    <m:r>
                      <a:rPr lang="ru-RU" sz="1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000" dirty="0"/>
                  <a:t>Orders Service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Orders Service: </a:t>
                </a:r>
                <a:r>
                  <a:rPr lang="ru-RU" sz="1000" dirty="0"/>
                  <a:t>валидация </a:t>
                </a:r>
                <a14:m>
                  <m:oMath xmlns:m="http://schemas.openxmlformats.org/officeDocument/2006/math">
                    <m:r>
                      <a:rPr lang="ru-RU" sz="1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sz="1000" dirty="0"/>
                  <a:t> сохранение заказа </a:t>
                </a:r>
                <a14:m>
                  <m:oMath xmlns:m="http://schemas.openxmlformats.org/officeDocument/2006/math">
                    <m:r>
                      <a:rPr lang="ru-RU" sz="1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000" dirty="0"/>
                  <a:t> </a:t>
                </a:r>
                <a:r>
                  <a:rPr lang="ru-RU" sz="1000" dirty="0"/>
                  <a:t>сохранение </a:t>
                </a:r>
                <a:r>
                  <a:rPr lang="en-US" sz="1000" dirty="0" err="1"/>
                  <a:t>OutboxEvent</a:t>
                </a:r>
                <a:r>
                  <a:rPr lang="en-US" sz="1000" dirty="0"/>
                  <a:t> </a:t>
                </a:r>
                <a14:m>
                  <m:oMath xmlns:m="http://schemas.openxmlformats.org/officeDocument/2006/math">
                    <m:r>
                      <a:rPr lang="ru-RU" sz="1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000" dirty="0"/>
                  <a:t> </a:t>
                </a:r>
                <a:r>
                  <a:rPr lang="ru-RU" sz="1000" dirty="0"/>
                  <a:t>обновление статуса (</a:t>
                </a:r>
                <a:r>
                  <a:rPr lang="en-US" sz="1000" dirty="0"/>
                  <a:t>PAYMENT_PENDING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Orders Service </a:t>
                </a:r>
                <a14:m>
                  <m:oMath xmlns:m="http://schemas.openxmlformats.org/officeDocument/2006/math">
                    <m:r>
                      <a:rPr lang="ru-RU" sz="1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000" dirty="0"/>
                  <a:t> </a:t>
                </a:r>
                <a:r>
                  <a:rPr lang="ru-RU" sz="1000" dirty="0"/>
                  <a:t>клиент: 201 </a:t>
                </a:r>
                <a:r>
                  <a:rPr lang="en-US" sz="1000" dirty="0"/>
                  <a:t>Created </a:t>
                </a:r>
                <a:r>
                  <a:rPr lang="ru-RU" sz="1000" dirty="0"/>
                  <a:t>с </a:t>
                </a:r>
                <a:r>
                  <a:rPr lang="en-US" sz="1000" dirty="0" err="1"/>
                  <a:t>order_id</a:t>
                </a:r>
                <a:endParaRPr lang="ru-RU" sz="1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76F32E-4C4F-C81C-E0D6-9A7DF973D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078" y="1864698"/>
                <a:ext cx="3643312" cy="1015663"/>
              </a:xfrm>
              <a:prstGeom prst="rect">
                <a:avLst/>
              </a:prstGeom>
              <a:blipFill>
                <a:blip r:embed="rId4"/>
                <a:stretch>
                  <a:fillRect b="-11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DFC9B38-6727-373B-A97B-51D0CF72D87F}"/>
              </a:ext>
            </a:extLst>
          </p:cNvPr>
          <p:cNvSpPr txBox="1"/>
          <p:nvPr/>
        </p:nvSpPr>
        <p:spPr>
          <a:xfrm>
            <a:off x="1073015" y="2947563"/>
            <a:ext cx="29225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OUTBOX WORKER</a:t>
            </a:r>
            <a:endParaRPr lang="ru-RU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76709B-F3B5-37FB-49D0-FE878E16853B}"/>
              </a:ext>
            </a:extLst>
          </p:cNvPr>
          <p:cNvSpPr txBox="1"/>
          <p:nvPr/>
        </p:nvSpPr>
        <p:spPr>
          <a:xfrm>
            <a:off x="2324317" y="3128955"/>
            <a:ext cx="11054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асинхронная часть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9EE78BD-EDCA-BF21-1072-D6D050952976}"/>
                  </a:ext>
                </a:extLst>
              </p:cNvPr>
              <p:cNvSpPr txBox="1"/>
              <p:nvPr/>
            </p:nvSpPr>
            <p:spPr>
              <a:xfrm>
                <a:off x="1608078" y="3300455"/>
                <a:ext cx="3643312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000" dirty="0"/>
                  <a:t>Каждые 5 секунд </a:t>
                </a:r>
                <a:r>
                  <a:rPr lang="en-US" sz="1000" dirty="0" err="1"/>
                  <a:t>OutboxWorker</a:t>
                </a:r>
                <a:r>
                  <a:rPr lang="en-US" sz="1000" dirty="0"/>
                  <a:t> </a:t>
                </a:r>
                <a:r>
                  <a:rPr lang="ru-RU" sz="1000" dirty="0"/>
                  <a:t>забирает </a:t>
                </a:r>
                <a:r>
                  <a:rPr lang="en-US" sz="1000" dirty="0"/>
                  <a:t>PENDING-</a:t>
                </a:r>
                <a:r>
                  <a:rPr lang="ru-RU" sz="1000" dirty="0"/>
                  <a:t>события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sz="1000" dirty="0"/>
                  <a:t>Отправляет в </a:t>
                </a:r>
                <a:r>
                  <a:rPr lang="en-US" sz="1000" dirty="0"/>
                  <a:t>Kafka </a:t>
                </a:r>
                <a:r>
                  <a:rPr lang="ru-RU" sz="1000" dirty="0"/>
                  <a:t>топик </a:t>
                </a:r>
                <a:r>
                  <a:rPr lang="en-US" sz="1000" dirty="0" err="1"/>
                  <a:t>order_payment_requests</a:t>
                </a:r>
                <a:endParaRPr lang="en-US" sz="10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Payments Service </a:t>
                </a:r>
                <a:r>
                  <a:rPr lang="ru-RU" sz="1000" dirty="0"/>
                  <a:t>получает событие </a:t>
                </a:r>
                <a14:m>
                  <m:oMath xmlns:m="http://schemas.openxmlformats.org/officeDocument/2006/math">
                    <m:r>
                      <a:rPr lang="ru-RU" sz="1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sz="1000" dirty="0"/>
                  <a:t> проверяет </a:t>
                </a:r>
                <a:r>
                  <a:rPr lang="en-US" sz="1000"/>
                  <a:t>Inbox → </a:t>
                </a:r>
                <a:r>
                  <a:rPr lang="ru-RU" sz="1000" dirty="0"/>
                  <a:t>списывает баланс </a:t>
                </a:r>
                <a14:m>
                  <m:oMath xmlns:m="http://schemas.openxmlformats.org/officeDocument/2006/math">
                    <m:r>
                      <a:rPr lang="ru-RU" sz="1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sz="1000" dirty="0"/>
                  <a:t> отправляет результат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9EE78BD-EDCA-BF21-1072-D6D050952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078" y="3300455"/>
                <a:ext cx="3643312" cy="861774"/>
              </a:xfrm>
              <a:prstGeom prst="rect">
                <a:avLst/>
              </a:prstGeom>
              <a:blipFill>
                <a:blip r:embed="rId5"/>
                <a:stretch>
                  <a:fillRect b="-21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oogle Shape;10289;p61">
            <a:extLst>
              <a:ext uri="{FF2B5EF4-FFF2-40B4-BE49-F238E27FC236}">
                <a16:creationId xmlns:a16="http://schemas.microsoft.com/office/drawing/2014/main" id="{00028A73-D07D-3C64-F797-C0299A693DAC}"/>
              </a:ext>
            </a:extLst>
          </p:cNvPr>
          <p:cNvGrpSpPr/>
          <p:nvPr/>
        </p:nvGrpSpPr>
        <p:grpSpPr>
          <a:xfrm rot="554523">
            <a:off x="8291894" y="4318427"/>
            <a:ext cx="397478" cy="391287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29" name="Google Shape;10290;p61">
              <a:extLst>
                <a:ext uri="{FF2B5EF4-FFF2-40B4-BE49-F238E27FC236}">
                  <a16:creationId xmlns:a16="http://schemas.microsoft.com/office/drawing/2014/main" id="{1406C454-E589-B3D9-76EF-5FB3765F48A7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0" name="Google Shape;10291;p61">
              <a:extLst>
                <a:ext uri="{FF2B5EF4-FFF2-40B4-BE49-F238E27FC236}">
                  <a16:creationId xmlns:a16="http://schemas.microsoft.com/office/drawing/2014/main" id="{2DCE6895-2AC6-2FBA-9145-6DDBE8814897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1" name="Google Shape;10292;p61">
              <a:extLst>
                <a:ext uri="{FF2B5EF4-FFF2-40B4-BE49-F238E27FC236}">
                  <a16:creationId xmlns:a16="http://schemas.microsoft.com/office/drawing/2014/main" id="{4EDE5698-FACC-CE0F-093A-26843EF88094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2" name="Google Shape;10293;p61">
              <a:extLst>
                <a:ext uri="{FF2B5EF4-FFF2-40B4-BE49-F238E27FC236}">
                  <a16:creationId xmlns:a16="http://schemas.microsoft.com/office/drawing/2014/main" id="{8FF542AA-5D4E-24F0-855E-19CED1D67189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3" name="Google Shape;10294;p61">
              <a:extLst>
                <a:ext uri="{FF2B5EF4-FFF2-40B4-BE49-F238E27FC236}">
                  <a16:creationId xmlns:a16="http://schemas.microsoft.com/office/drawing/2014/main" id="{2D7DC63A-E134-D92C-F987-ADA9690411F1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34" name="Google Shape;10289;p61">
            <a:extLst>
              <a:ext uri="{FF2B5EF4-FFF2-40B4-BE49-F238E27FC236}">
                <a16:creationId xmlns:a16="http://schemas.microsoft.com/office/drawing/2014/main" id="{E92C7E04-62FE-913D-E5ED-24CB28AA54FE}"/>
              </a:ext>
            </a:extLst>
          </p:cNvPr>
          <p:cNvGrpSpPr/>
          <p:nvPr/>
        </p:nvGrpSpPr>
        <p:grpSpPr>
          <a:xfrm rot="16731851">
            <a:off x="8202613" y="104182"/>
            <a:ext cx="1341466" cy="1320572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35" name="Google Shape;10290;p61">
              <a:extLst>
                <a:ext uri="{FF2B5EF4-FFF2-40B4-BE49-F238E27FC236}">
                  <a16:creationId xmlns:a16="http://schemas.microsoft.com/office/drawing/2014/main" id="{1784CFF9-ED82-384D-6102-B5628BA76EA8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6" name="Google Shape;10291;p61">
              <a:extLst>
                <a:ext uri="{FF2B5EF4-FFF2-40B4-BE49-F238E27FC236}">
                  <a16:creationId xmlns:a16="http://schemas.microsoft.com/office/drawing/2014/main" id="{939B4C9D-D28D-916B-FBE4-B4D87EAE0029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7" name="Google Shape;10292;p61">
              <a:extLst>
                <a:ext uri="{FF2B5EF4-FFF2-40B4-BE49-F238E27FC236}">
                  <a16:creationId xmlns:a16="http://schemas.microsoft.com/office/drawing/2014/main" id="{41767B3E-BBEF-FB60-A4F6-8890BEF403AA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8" name="Google Shape;10293;p61">
              <a:extLst>
                <a:ext uri="{FF2B5EF4-FFF2-40B4-BE49-F238E27FC236}">
                  <a16:creationId xmlns:a16="http://schemas.microsoft.com/office/drawing/2014/main" id="{A69B203C-D28C-C5E6-2E8E-AD64A639559F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9" name="Google Shape;10294;p61">
              <a:extLst>
                <a:ext uri="{FF2B5EF4-FFF2-40B4-BE49-F238E27FC236}">
                  <a16:creationId xmlns:a16="http://schemas.microsoft.com/office/drawing/2014/main" id="{4A22B56C-8E16-83FC-8452-114238FEED51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40" name="Google Shape;10289;p61">
            <a:extLst>
              <a:ext uri="{FF2B5EF4-FFF2-40B4-BE49-F238E27FC236}">
                <a16:creationId xmlns:a16="http://schemas.microsoft.com/office/drawing/2014/main" id="{B23D1543-E493-DF07-DCDC-117E75DDEAF3}"/>
              </a:ext>
            </a:extLst>
          </p:cNvPr>
          <p:cNvGrpSpPr/>
          <p:nvPr/>
        </p:nvGrpSpPr>
        <p:grpSpPr>
          <a:xfrm rot="554523">
            <a:off x="966828" y="432227"/>
            <a:ext cx="397478" cy="391287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41" name="Google Shape;10290;p61">
              <a:extLst>
                <a:ext uri="{FF2B5EF4-FFF2-40B4-BE49-F238E27FC236}">
                  <a16:creationId xmlns:a16="http://schemas.microsoft.com/office/drawing/2014/main" id="{70474139-D9A3-DCD8-CD6D-5DBCA7B4F28E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2" name="Google Shape;10291;p61">
              <a:extLst>
                <a:ext uri="{FF2B5EF4-FFF2-40B4-BE49-F238E27FC236}">
                  <a16:creationId xmlns:a16="http://schemas.microsoft.com/office/drawing/2014/main" id="{90C7EE9F-5741-6EB2-2516-98BAEA6D38EB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3" name="Google Shape;10292;p61">
              <a:extLst>
                <a:ext uri="{FF2B5EF4-FFF2-40B4-BE49-F238E27FC236}">
                  <a16:creationId xmlns:a16="http://schemas.microsoft.com/office/drawing/2014/main" id="{0A4C3E23-246D-9558-56A5-7F85C23161BC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4" name="Google Shape;10293;p61">
              <a:extLst>
                <a:ext uri="{FF2B5EF4-FFF2-40B4-BE49-F238E27FC236}">
                  <a16:creationId xmlns:a16="http://schemas.microsoft.com/office/drawing/2014/main" id="{112A6F42-7260-F908-F613-46D07DF76B10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5" name="Google Shape;10294;p61">
              <a:extLst>
                <a:ext uri="{FF2B5EF4-FFF2-40B4-BE49-F238E27FC236}">
                  <a16:creationId xmlns:a16="http://schemas.microsoft.com/office/drawing/2014/main" id="{4A3D3AA5-69CE-4F8C-494E-C1C996015922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46" name="Google Shape;10289;p61">
            <a:extLst>
              <a:ext uri="{FF2B5EF4-FFF2-40B4-BE49-F238E27FC236}">
                <a16:creationId xmlns:a16="http://schemas.microsoft.com/office/drawing/2014/main" id="{77DCDEFE-96C0-CD74-0BF8-F933C0D7C120}"/>
              </a:ext>
            </a:extLst>
          </p:cNvPr>
          <p:cNvGrpSpPr/>
          <p:nvPr/>
        </p:nvGrpSpPr>
        <p:grpSpPr>
          <a:xfrm rot="4937945">
            <a:off x="1173159" y="1156712"/>
            <a:ext cx="208565" cy="205316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47" name="Google Shape;10290;p61">
              <a:extLst>
                <a:ext uri="{FF2B5EF4-FFF2-40B4-BE49-F238E27FC236}">
                  <a16:creationId xmlns:a16="http://schemas.microsoft.com/office/drawing/2014/main" id="{EB8EF98C-0B31-6BB6-795D-FB896B9CD8BB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8" name="Google Shape;10291;p61">
              <a:extLst>
                <a:ext uri="{FF2B5EF4-FFF2-40B4-BE49-F238E27FC236}">
                  <a16:creationId xmlns:a16="http://schemas.microsoft.com/office/drawing/2014/main" id="{E33A73AE-B76D-8C12-FD0A-C8A0868948FE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9" name="Google Shape;10292;p61">
              <a:extLst>
                <a:ext uri="{FF2B5EF4-FFF2-40B4-BE49-F238E27FC236}">
                  <a16:creationId xmlns:a16="http://schemas.microsoft.com/office/drawing/2014/main" id="{145E38A8-E7C0-06AA-CED5-9DE7041D1028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0" name="Google Shape;10293;p61">
              <a:extLst>
                <a:ext uri="{FF2B5EF4-FFF2-40B4-BE49-F238E27FC236}">
                  <a16:creationId xmlns:a16="http://schemas.microsoft.com/office/drawing/2014/main" id="{9813E02B-F5F1-0E28-E412-3B3B8761401E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51" name="Google Shape;10294;p61">
              <a:extLst>
                <a:ext uri="{FF2B5EF4-FFF2-40B4-BE49-F238E27FC236}">
                  <a16:creationId xmlns:a16="http://schemas.microsoft.com/office/drawing/2014/main" id="{911BCD4B-BF13-947E-9FAF-1DDAB1576405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5044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5">
            <a:extLst>
              <a:ext uri="{FF2B5EF4-FFF2-40B4-BE49-F238E27FC236}">
                <a16:creationId xmlns:a16="http://schemas.microsoft.com/office/drawing/2014/main" id="{1F468264-DDC1-C13F-DEB7-FF444BDC66FC}"/>
              </a:ext>
            </a:extLst>
          </p:cNvPr>
          <p:cNvSpPr txBox="1">
            <a:spLocks/>
          </p:cNvSpPr>
          <p:nvPr/>
        </p:nvSpPr>
        <p:spPr>
          <a:xfrm>
            <a:off x="1204780" y="467342"/>
            <a:ext cx="48810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2000" dirty="0">
                <a:solidFill>
                  <a:schemeClr val="tx2"/>
                </a:solidFill>
              </a:rPr>
              <a:t>ПРОТЕСТИРОВАННЫЕ СЦЕНАРИИ</a:t>
            </a:r>
          </a:p>
        </p:txBody>
      </p:sp>
      <p:grpSp>
        <p:nvGrpSpPr>
          <p:cNvPr id="17" name="Google Shape;8687;p58">
            <a:extLst>
              <a:ext uri="{FF2B5EF4-FFF2-40B4-BE49-F238E27FC236}">
                <a16:creationId xmlns:a16="http://schemas.microsoft.com/office/drawing/2014/main" id="{3B966A78-7CD0-0187-265B-7BF2CBE35B80}"/>
              </a:ext>
            </a:extLst>
          </p:cNvPr>
          <p:cNvGrpSpPr/>
          <p:nvPr/>
        </p:nvGrpSpPr>
        <p:grpSpPr>
          <a:xfrm flipV="1">
            <a:off x="3612662" y="4580791"/>
            <a:ext cx="1101807" cy="95367"/>
            <a:chOff x="3465975" y="2270276"/>
            <a:chExt cx="1986364" cy="171929"/>
          </a:xfrm>
          <a:solidFill>
            <a:schemeClr val="bg1"/>
          </a:solidFill>
        </p:grpSpPr>
        <p:sp>
          <p:nvSpPr>
            <p:cNvPr id="18" name="Google Shape;8688;p58">
              <a:extLst>
                <a:ext uri="{FF2B5EF4-FFF2-40B4-BE49-F238E27FC236}">
                  <a16:creationId xmlns:a16="http://schemas.microsoft.com/office/drawing/2014/main" id="{40406084-BF07-7EAB-4F2E-630F440E4A6E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8689;p58">
              <a:extLst>
                <a:ext uri="{FF2B5EF4-FFF2-40B4-BE49-F238E27FC236}">
                  <a16:creationId xmlns:a16="http://schemas.microsoft.com/office/drawing/2014/main" id="{B27312A0-F546-FE7C-3F6E-294249A3D8CF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8690;p58">
              <a:extLst>
                <a:ext uri="{FF2B5EF4-FFF2-40B4-BE49-F238E27FC236}">
                  <a16:creationId xmlns:a16="http://schemas.microsoft.com/office/drawing/2014/main" id="{C5BF4CA6-A768-AEC4-D4F9-5EBE84797EF2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691;p58">
              <a:extLst>
                <a:ext uri="{FF2B5EF4-FFF2-40B4-BE49-F238E27FC236}">
                  <a16:creationId xmlns:a16="http://schemas.microsoft.com/office/drawing/2014/main" id="{10CC6B32-5E14-8701-0B02-A40419256442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8692;p58">
              <a:extLst>
                <a:ext uri="{FF2B5EF4-FFF2-40B4-BE49-F238E27FC236}">
                  <a16:creationId xmlns:a16="http://schemas.microsoft.com/office/drawing/2014/main" id="{A475B370-BCC3-686C-CBC9-06C5A1A88672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693;p58">
              <a:extLst>
                <a:ext uri="{FF2B5EF4-FFF2-40B4-BE49-F238E27FC236}">
                  <a16:creationId xmlns:a16="http://schemas.microsoft.com/office/drawing/2014/main" id="{52EE3997-AB60-6C17-2A39-DA598E89AA5B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8694;p58">
              <a:extLst>
                <a:ext uri="{FF2B5EF4-FFF2-40B4-BE49-F238E27FC236}">
                  <a16:creationId xmlns:a16="http://schemas.microsoft.com/office/drawing/2014/main" id="{4B548BE7-BF56-F9EC-CBEE-8113BDE38E2D}"/>
                </a:ext>
              </a:extLst>
            </p:cNvPr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695;p58">
              <a:extLst>
                <a:ext uri="{FF2B5EF4-FFF2-40B4-BE49-F238E27FC236}">
                  <a16:creationId xmlns:a16="http://schemas.microsoft.com/office/drawing/2014/main" id="{E41F1943-4072-2650-B560-ED793C7AF430}"/>
                </a:ext>
              </a:extLst>
            </p:cNvPr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C692410-0D57-3C6B-2214-35A8B8B0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526" y="911860"/>
            <a:ext cx="5439032" cy="311658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A749118-99D2-0EA2-02D1-2C5F3A9AA523}"/>
              </a:ext>
            </a:extLst>
          </p:cNvPr>
          <p:cNvSpPr txBox="1"/>
          <p:nvPr/>
        </p:nvSpPr>
        <p:spPr>
          <a:xfrm>
            <a:off x="378442" y="1937665"/>
            <a:ext cx="4635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СТАТИСТИКА ALLURE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000" dirty="0"/>
              <a:t>Всего тестов: 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000" dirty="0"/>
              <a:t>Процент успешных: 80%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000" dirty="0"/>
              <a:t>Тренд стабильный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4C284D-9440-667C-8553-620B3A485353}"/>
              </a:ext>
            </a:extLst>
          </p:cNvPr>
          <p:cNvSpPr txBox="1"/>
          <p:nvPr/>
        </p:nvSpPr>
        <p:spPr>
          <a:xfrm>
            <a:off x="378442" y="1040042"/>
            <a:ext cx="4635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АВТОТЕСТЫ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nybody" panose="020B0604020202020204" charset="0"/>
              </a:rPr>
              <a:t>JUnit 5</a:t>
            </a: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latin typeface="Anybody" panose="020B0604020202020204" charset="0"/>
              </a:rPr>
              <a:t>RestAssured</a:t>
            </a: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Anybody" panose="020B0604020202020204" charset="0"/>
              </a:rPr>
              <a:t>Allure</a:t>
            </a:r>
            <a:endParaRPr lang="ru-RU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879A14-A123-9D08-D0F5-A31ED13EF346}"/>
              </a:ext>
            </a:extLst>
          </p:cNvPr>
          <p:cNvSpPr txBox="1"/>
          <p:nvPr/>
        </p:nvSpPr>
        <p:spPr>
          <a:xfrm>
            <a:off x="378442" y="2778226"/>
            <a:ext cx="277623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ТЕСТ-КЕЙСЫ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Создание счета, пополнение, баланс, валидация, ошибки (</a:t>
            </a:r>
            <a:r>
              <a:rPr lang="en-US" sz="1000" dirty="0"/>
              <a:t>Payments Service</a:t>
            </a:r>
            <a:r>
              <a:rPr lang="ru-RU" sz="1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Создание заказа, валидация, список, получение по ID (</a:t>
            </a:r>
            <a:r>
              <a:rPr lang="en-US" sz="1000" dirty="0"/>
              <a:t>Orders Service</a:t>
            </a:r>
            <a:r>
              <a:rPr lang="ru-RU" sz="1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Успешная оплата, недостаточно средств, два заказа при одном балансе, повторное создание счета (</a:t>
            </a:r>
            <a:r>
              <a:rPr lang="en-US" sz="1000" dirty="0"/>
              <a:t>End-to-End </a:t>
            </a:r>
            <a:r>
              <a:rPr lang="ru-RU" sz="1000" dirty="0"/>
              <a:t>сценарии) </a:t>
            </a:r>
          </a:p>
        </p:txBody>
      </p:sp>
    </p:spTree>
    <p:extLst>
      <p:ext uri="{BB962C8B-B14F-4D97-AF65-F5344CB8AC3E}">
        <p14:creationId xmlns:p14="http://schemas.microsoft.com/office/powerpoint/2010/main" val="78393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2C28-B81A-29D0-A4D2-BDDDC16A1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5">
            <a:extLst>
              <a:ext uri="{FF2B5EF4-FFF2-40B4-BE49-F238E27FC236}">
                <a16:creationId xmlns:a16="http://schemas.microsoft.com/office/drawing/2014/main" id="{8C285872-B384-3C35-EA33-EACB672DE1BD}"/>
              </a:ext>
            </a:extLst>
          </p:cNvPr>
          <p:cNvSpPr txBox="1">
            <a:spLocks/>
          </p:cNvSpPr>
          <p:nvPr/>
        </p:nvSpPr>
        <p:spPr>
          <a:xfrm>
            <a:off x="1204780" y="467342"/>
            <a:ext cx="48810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2000" dirty="0">
                <a:solidFill>
                  <a:schemeClr val="tx2"/>
                </a:solidFill>
              </a:rPr>
              <a:t>ПРОТЕСТИРОВАННЫЕ СЦЕНАРИИ</a:t>
            </a:r>
          </a:p>
        </p:txBody>
      </p:sp>
      <p:grpSp>
        <p:nvGrpSpPr>
          <p:cNvPr id="17" name="Google Shape;8687;p58">
            <a:extLst>
              <a:ext uri="{FF2B5EF4-FFF2-40B4-BE49-F238E27FC236}">
                <a16:creationId xmlns:a16="http://schemas.microsoft.com/office/drawing/2014/main" id="{6246DE25-9D96-D900-A4BF-197D03EC6C1A}"/>
              </a:ext>
            </a:extLst>
          </p:cNvPr>
          <p:cNvGrpSpPr/>
          <p:nvPr/>
        </p:nvGrpSpPr>
        <p:grpSpPr>
          <a:xfrm flipV="1">
            <a:off x="3612662" y="4580791"/>
            <a:ext cx="1101807" cy="95367"/>
            <a:chOff x="3465975" y="2270276"/>
            <a:chExt cx="1986364" cy="171929"/>
          </a:xfrm>
          <a:solidFill>
            <a:schemeClr val="bg1"/>
          </a:solidFill>
        </p:grpSpPr>
        <p:sp>
          <p:nvSpPr>
            <p:cNvPr id="18" name="Google Shape;8688;p58">
              <a:extLst>
                <a:ext uri="{FF2B5EF4-FFF2-40B4-BE49-F238E27FC236}">
                  <a16:creationId xmlns:a16="http://schemas.microsoft.com/office/drawing/2014/main" id="{843112CB-240A-DC0B-E181-90D19BB991EB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8689;p58">
              <a:extLst>
                <a:ext uri="{FF2B5EF4-FFF2-40B4-BE49-F238E27FC236}">
                  <a16:creationId xmlns:a16="http://schemas.microsoft.com/office/drawing/2014/main" id="{0FBED11C-23EC-F536-31C8-EB18AC79D8EB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8690;p58">
              <a:extLst>
                <a:ext uri="{FF2B5EF4-FFF2-40B4-BE49-F238E27FC236}">
                  <a16:creationId xmlns:a16="http://schemas.microsoft.com/office/drawing/2014/main" id="{9444DE97-80A4-16EE-5071-4F93B571DCD5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691;p58">
              <a:extLst>
                <a:ext uri="{FF2B5EF4-FFF2-40B4-BE49-F238E27FC236}">
                  <a16:creationId xmlns:a16="http://schemas.microsoft.com/office/drawing/2014/main" id="{8929612A-0A79-B864-0851-C65777FD42CF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8692;p58">
              <a:extLst>
                <a:ext uri="{FF2B5EF4-FFF2-40B4-BE49-F238E27FC236}">
                  <a16:creationId xmlns:a16="http://schemas.microsoft.com/office/drawing/2014/main" id="{564D2022-DADA-0FFF-DD44-0E617263ABA9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693;p58">
              <a:extLst>
                <a:ext uri="{FF2B5EF4-FFF2-40B4-BE49-F238E27FC236}">
                  <a16:creationId xmlns:a16="http://schemas.microsoft.com/office/drawing/2014/main" id="{FA907946-8426-5150-38E8-3844DAC370E7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8694;p58">
              <a:extLst>
                <a:ext uri="{FF2B5EF4-FFF2-40B4-BE49-F238E27FC236}">
                  <a16:creationId xmlns:a16="http://schemas.microsoft.com/office/drawing/2014/main" id="{7448621B-DB5D-4416-690C-097931344D88}"/>
                </a:ext>
              </a:extLst>
            </p:cNvPr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695;p58">
              <a:extLst>
                <a:ext uri="{FF2B5EF4-FFF2-40B4-BE49-F238E27FC236}">
                  <a16:creationId xmlns:a16="http://schemas.microsoft.com/office/drawing/2014/main" id="{8FC5E5C6-DB74-8A77-6C14-A782DC501C54}"/>
                </a:ext>
              </a:extLst>
            </p:cNvPr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92BE2B9-6E5E-D0A0-EF51-B53C8EB54CDB}"/>
              </a:ext>
            </a:extLst>
          </p:cNvPr>
          <p:cNvSpPr txBox="1"/>
          <p:nvPr/>
        </p:nvSpPr>
        <p:spPr>
          <a:xfrm>
            <a:off x="4570690" y="875533"/>
            <a:ext cx="18351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И еще немного …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828D06-986B-55F1-E6F1-6CF10190E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88" y="1213326"/>
            <a:ext cx="5355592" cy="27168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D862F1F-31F9-5243-C48E-1AE36ABB91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070" b="34910"/>
          <a:stretch>
            <a:fillRect/>
          </a:stretch>
        </p:blipFill>
        <p:spPr>
          <a:xfrm>
            <a:off x="4666794" y="1690675"/>
            <a:ext cx="4022578" cy="27145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1D3739-144D-EDA3-331C-EBD8B346AC35}"/>
              </a:ext>
            </a:extLst>
          </p:cNvPr>
          <p:cNvSpPr txBox="1"/>
          <p:nvPr/>
        </p:nvSpPr>
        <p:spPr>
          <a:xfrm>
            <a:off x="491488" y="3978482"/>
            <a:ext cx="355251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В основном скрипте 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run.sh </a:t>
            </a:r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можно запустить 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curl </a:t>
            </a:r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запросы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en-US" sz="1000" i="1" dirty="0">
              <a:solidFill>
                <a:schemeClr val="bg1">
                  <a:lumMod val="75000"/>
                </a:schemeClr>
              </a:solidFill>
            </a:endParaRPr>
          </a:p>
          <a:p>
            <a:pPr algn="r"/>
            <a:r>
              <a:rPr lang="en-US" sz="1000" b="1" i="1" dirty="0">
                <a:solidFill>
                  <a:schemeClr val="bg1">
                    <a:lumMod val="75000"/>
                  </a:schemeClr>
                </a:solidFill>
              </a:rPr>
              <a:t>$ ./run.sh test</a:t>
            </a:r>
            <a:endParaRPr lang="ru-RU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8" name="Google Shape;10289;p61">
            <a:extLst>
              <a:ext uri="{FF2B5EF4-FFF2-40B4-BE49-F238E27FC236}">
                <a16:creationId xmlns:a16="http://schemas.microsoft.com/office/drawing/2014/main" id="{76B238B7-7FD3-A5A8-239C-F968E49D14D9}"/>
              </a:ext>
            </a:extLst>
          </p:cNvPr>
          <p:cNvGrpSpPr/>
          <p:nvPr/>
        </p:nvGrpSpPr>
        <p:grpSpPr>
          <a:xfrm rot="554523">
            <a:off x="4592626" y="4650812"/>
            <a:ext cx="302323" cy="297614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9" name="Google Shape;10290;p61">
              <a:extLst>
                <a:ext uri="{FF2B5EF4-FFF2-40B4-BE49-F238E27FC236}">
                  <a16:creationId xmlns:a16="http://schemas.microsoft.com/office/drawing/2014/main" id="{0FB95C3E-9531-EE87-6033-09D75B5EA22D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0" name="Google Shape;10291;p61">
              <a:extLst>
                <a:ext uri="{FF2B5EF4-FFF2-40B4-BE49-F238E27FC236}">
                  <a16:creationId xmlns:a16="http://schemas.microsoft.com/office/drawing/2014/main" id="{DCF6704D-A88C-8EEB-6895-BFDE7690A537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1" name="Google Shape;10292;p61">
              <a:extLst>
                <a:ext uri="{FF2B5EF4-FFF2-40B4-BE49-F238E27FC236}">
                  <a16:creationId xmlns:a16="http://schemas.microsoft.com/office/drawing/2014/main" id="{B93693B3-A7B1-9B9C-E5C8-2DBEB7EB6C31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2" name="Google Shape;10293;p61">
              <a:extLst>
                <a:ext uri="{FF2B5EF4-FFF2-40B4-BE49-F238E27FC236}">
                  <a16:creationId xmlns:a16="http://schemas.microsoft.com/office/drawing/2014/main" id="{E32E17A0-C769-A107-2243-B30C2A863069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3" name="Google Shape;10294;p61">
              <a:extLst>
                <a:ext uri="{FF2B5EF4-FFF2-40B4-BE49-F238E27FC236}">
                  <a16:creationId xmlns:a16="http://schemas.microsoft.com/office/drawing/2014/main" id="{3BDB35D0-41F3-0FCB-3B0F-1459B130CA7F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826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5">
            <a:extLst>
              <a:ext uri="{FF2B5EF4-FFF2-40B4-BE49-F238E27FC236}">
                <a16:creationId xmlns:a16="http://schemas.microsoft.com/office/drawing/2014/main" id="{0AA8F8B3-A6EB-B15E-4970-ED9E0FAA37F0}"/>
              </a:ext>
            </a:extLst>
          </p:cNvPr>
          <p:cNvSpPr txBox="1">
            <a:spLocks/>
          </p:cNvSpPr>
          <p:nvPr/>
        </p:nvSpPr>
        <p:spPr>
          <a:xfrm>
            <a:off x="1204780" y="467342"/>
            <a:ext cx="48810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2000" dirty="0">
                <a:solidFill>
                  <a:schemeClr val="tx2"/>
                </a:solidFill>
              </a:rPr>
              <a:t>ПРОБЛЕМЫ БЕЗОПАСНОСТИ</a:t>
            </a:r>
          </a:p>
        </p:txBody>
      </p:sp>
      <p:grpSp>
        <p:nvGrpSpPr>
          <p:cNvPr id="4" name="Google Shape;8687;p58">
            <a:extLst>
              <a:ext uri="{FF2B5EF4-FFF2-40B4-BE49-F238E27FC236}">
                <a16:creationId xmlns:a16="http://schemas.microsoft.com/office/drawing/2014/main" id="{0CBE8382-45FC-5B92-62C5-99EFC6A6FA97}"/>
              </a:ext>
            </a:extLst>
          </p:cNvPr>
          <p:cNvGrpSpPr/>
          <p:nvPr/>
        </p:nvGrpSpPr>
        <p:grpSpPr>
          <a:xfrm flipV="1">
            <a:off x="3612662" y="4580791"/>
            <a:ext cx="1101807" cy="95367"/>
            <a:chOff x="3465975" y="2270276"/>
            <a:chExt cx="1986364" cy="171929"/>
          </a:xfrm>
          <a:solidFill>
            <a:schemeClr val="bg1"/>
          </a:solidFill>
        </p:grpSpPr>
        <p:sp>
          <p:nvSpPr>
            <p:cNvPr id="5" name="Google Shape;8688;p58">
              <a:extLst>
                <a:ext uri="{FF2B5EF4-FFF2-40B4-BE49-F238E27FC236}">
                  <a16:creationId xmlns:a16="http://schemas.microsoft.com/office/drawing/2014/main" id="{32126F1D-E8E6-A7FF-4A66-725A1004521E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8689;p58">
              <a:extLst>
                <a:ext uri="{FF2B5EF4-FFF2-40B4-BE49-F238E27FC236}">
                  <a16:creationId xmlns:a16="http://schemas.microsoft.com/office/drawing/2014/main" id="{62B3D19D-C803-279E-552C-E7788E6BAD24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8690;p58">
              <a:extLst>
                <a:ext uri="{FF2B5EF4-FFF2-40B4-BE49-F238E27FC236}">
                  <a16:creationId xmlns:a16="http://schemas.microsoft.com/office/drawing/2014/main" id="{45BAEDA5-0060-D0EC-2CC5-3EF8683B1DEF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691;p58">
              <a:extLst>
                <a:ext uri="{FF2B5EF4-FFF2-40B4-BE49-F238E27FC236}">
                  <a16:creationId xmlns:a16="http://schemas.microsoft.com/office/drawing/2014/main" id="{658F7F52-D22C-90BE-D506-9942B931998D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8692;p58">
              <a:extLst>
                <a:ext uri="{FF2B5EF4-FFF2-40B4-BE49-F238E27FC236}">
                  <a16:creationId xmlns:a16="http://schemas.microsoft.com/office/drawing/2014/main" id="{25FBD2C4-FDA3-1730-CEC7-20C55E3EF27C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693;p58">
              <a:extLst>
                <a:ext uri="{FF2B5EF4-FFF2-40B4-BE49-F238E27FC236}">
                  <a16:creationId xmlns:a16="http://schemas.microsoft.com/office/drawing/2014/main" id="{6B4ABA33-DEA9-E95E-425A-019E5C7F0714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8694;p58">
              <a:extLst>
                <a:ext uri="{FF2B5EF4-FFF2-40B4-BE49-F238E27FC236}">
                  <a16:creationId xmlns:a16="http://schemas.microsoft.com/office/drawing/2014/main" id="{F1653DB1-A55F-9DED-21E5-C864DBB01305}"/>
                </a:ext>
              </a:extLst>
            </p:cNvPr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695;p58">
              <a:extLst>
                <a:ext uri="{FF2B5EF4-FFF2-40B4-BE49-F238E27FC236}">
                  <a16:creationId xmlns:a16="http://schemas.microsoft.com/office/drawing/2014/main" id="{859AE765-DCFE-32FE-1952-328B8431BBE1}"/>
                </a:ext>
              </a:extLst>
            </p:cNvPr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grpFill/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8EDC392-C868-9BEC-F22B-1E84C598D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01" y="995680"/>
            <a:ext cx="7254429" cy="33306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3633075-A273-EEB6-20EA-2BA6CE1CFD69}"/>
              </a:ext>
            </a:extLst>
          </p:cNvPr>
          <p:cNvSpPr txBox="1"/>
          <p:nvPr/>
        </p:nvSpPr>
        <p:spPr>
          <a:xfrm>
            <a:off x="5628640" y="4553031"/>
            <a:ext cx="39712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Anybody" panose="020B0604020202020204" charset="0"/>
              </a:rPr>
              <a:t>OrbitaMarket_Security_Analysis_Report.md</a:t>
            </a:r>
            <a:endParaRPr lang="ru-RU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EB637E-D6FC-12CD-221A-C52EA19CC8F4}"/>
              </a:ext>
            </a:extLst>
          </p:cNvPr>
          <p:cNvSpPr txBox="1"/>
          <p:nvPr/>
        </p:nvSpPr>
        <p:spPr>
          <a:xfrm>
            <a:off x="24282" y="4854668"/>
            <a:ext cx="39712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chemeClr val="bg1">
                    <a:lumMod val="75000"/>
                  </a:schemeClr>
                </a:solidFill>
              </a:rPr>
              <a:t>Табличка не поместилась …</a:t>
            </a:r>
          </a:p>
        </p:txBody>
      </p:sp>
      <p:grpSp>
        <p:nvGrpSpPr>
          <p:cNvPr id="32" name="Google Shape;10289;p61">
            <a:extLst>
              <a:ext uri="{FF2B5EF4-FFF2-40B4-BE49-F238E27FC236}">
                <a16:creationId xmlns:a16="http://schemas.microsoft.com/office/drawing/2014/main" id="{E46340D8-04E9-1410-1478-B9F3FCA2AFE4}"/>
              </a:ext>
            </a:extLst>
          </p:cNvPr>
          <p:cNvGrpSpPr/>
          <p:nvPr/>
        </p:nvGrpSpPr>
        <p:grpSpPr>
          <a:xfrm rot="554523">
            <a:off x="966828" y="432227"/>
            <a:ext cx="397478" cy="391287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33" name="Google Shape;10290;p61">
              <a:extLst>
                <a:ext uri="{FF2B5EF4-FFF2-40B4-BE49-F238E27FC236}">
                  <a16:creationId xmlns:a16="http://schemas.microsoft.com/office/drawing/2014/main" id="{F3E145F3-6372-C81F-4E07-572367EA9761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4" name="Google Shape;10291;p61">
              <a:extLst>
                <a:ext uri="{FF2B5EF4-FFF2-40B4-BE49-F238E27FC236}">
                  <a16:creationId xmlns:a16="http://schemas.microsoft.com/office/drawing/2014/main" id="{895E9890-369F-97A0-667E-C4F99C67CBEB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5" name="Google Shape;10292;p61">
              <a:extLst>
                <a:ext uri="{FF2B5EF4-FFF2-40B4-BE49-F238E27FC236}">
                  <a16:creationId xmlns:a16="http://schemas.microsoft.com/office/drawing/2014/main" id="{2DFEC1E2-2BBB-3492-984D-1CAE140D5188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6" name="Google Shape;10293;p61">
              <a:extLst>
                <a:ext uri="{FF2B5EF4-FFF2-40B4-BE49-F238E27FC236}">
                  <a16:creationId xmlns:a16="http://schemas.microsoft.com/office/drawing/2014/main" id="{215F1DD4-E2DD-34D6-13E7-C834CB2ECE44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7" name="Google Shape;10294;p61">
              <a:extLst>
                <a:ext uri="{FF2B5EF4-FFF2-40B4-BE49-F238E27FC236}">
                  <a16:creationId xmlns:a16="http://schemas.microsoft.com/office/drawing/2014/main" id="{50CFC02C-2606-A7E2-9DA5-8C429EB88BFF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2260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5">
            <a:extLst>
              <a:ext uri="{FF2B5EF4-FFF2-40B4-BE49-F238E27FC236}">
                <a16:creationId xmlns:a16="http://schemas.microsoft.com/office/drawing/2014/main" id="{7D52E6DE-C78A-94D8-B3DB-5E3FD500D2B2}"/>
              </a:ext>
            </a:extLst>
          </p:cNvPr>
          <p:cNvSpPr txBox="1">
            <a:spLocks/>
          </p:cNvSpPr>
          <p:nvPr/>
        </p:nvSpPr>
        <p:spPr>
          <a:xfrm>
            <a:off x="1204780" y="467342"/>
            <a:ext cx="48810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2000" dirty="0">
                <a:solidFill>
                  <a:schemeClr val="tx2"/>
                </a:solidFill>
              </a:rPr>
              <a:t>ПЛАН ДОРАБОТКИ ДО </a:t>
            </a:r>
            <a:r>
              <a:rPr lang="en-US" sz="2000" dirty="0">
                <a:solidFill>
                  <a:schemeClr val="tx2"/>
                </a:solidFill>
              </a:rPr>
              <a:t>MVP</a:t>
            </a:r>
          </a:p>
        </p:txBody>
      </p:sp>
      <p:grpSp>
        <p:nvGrpSpPr>
          <p:cNvPr id="5" name="Google Shape;8687;p58">
            <a:extLst>
              <a:ext uri="{FF2B5EF4-FFF2-40B4-BE49-F238E27FC236}">
                <a16:creationId xmlns:a16="http://schemas.microsoft.com/office/drawing/2014/main" id="{0396F439-F621-4C6B-2EC0-5BAE2585413D}"/>
              </a:ext>
            </a:extLst>
          </p:cNvPr>
          <p:cNvGrpSpPr/>
          <p:nvPr/>
        </p:nvGrpSpPr>
        <p:grpSpPr>
          <a:xfrm flipV="1">
            <a:off x="3612662" y="4580791"/>
            <a:ext cx="1101807" cy="95367"/>
            <a:chOff x="3465975" y="2270276"/>
            <a:chExt cx="1986364" cy="171929"/>
          </a:xfrm>
          <a:solidFill>
            <a:schemeClr val="bg1"/>
          </a:solidFill>
        </p:grpSpPr>
        <p:sp>
          <p:nvSpPr>
            <p:cNvPr id="6" name="Google Shape;8688;p58">
              <a:extLst>
                <a:ext uri="{FF2B5EF4-FFF2-40B4-BE49-F238E27FC236}">
                  <a16:creationId xmlns:a16="http://schemas.microsoft.com/office/drawing/2014/main" id="{CF8CEF4B-68A5-0C99-2C6D-188149785EF5}"/>
                </a:ext>
              </a:extLst>
            </p:cNvPr>
            <p:cNvSpPr/>
            <p:nvPr/>
          </p:nvSpPr>
          <p:spPr>
            <a:xfrm rot="-5400000">
              <a:off x="372518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8689;p58">
              <a:extLst>
                <a:ext uri="{FF2B5EF4-FFF2-40B4-BE49-F238E27FC236}">
                  <a16:creationId xmlns:a16="http://schemas.microsoft.com/office/drawing/2014/main" id="{6FF0591B-E216-D2C4-56D6-1DC1081BAF36}"/>
                </a:ext>
              </a:extLst>
            </p:cNvPr>
            <p:cNvSpPr/>
            <p:nvPr/>
          </p:nvSpPr>
          <p:spPr>
            <a:xfrm rot="-5400000">
              <a:off x="3984394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8690;p58">
              <a:extLst>
                <a:ext uri="{FF2B5EF4-FFF2-40B4-BE49-F238E27FC236}">
                  <a16:creationId xmlns:a16="http://schemas.microsoft.com/office/drawing/2014/main" id="{A3CBB56E-61D4-E6EE-E0E6-CDDE23C20FE2}"/>
                </a:ext>
              </a:extLst>
            </p:cNvPr>
            <p:cNvSpPr/>
            <p:nvPr/>
          </p:nvSpPr>
          <p:spPr>
            <a:xfrm rot="-5400000">
              <a:off x="4243603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691;p58">
              <a:extLst>
                <a:ext uri="{FF2B5EF4-FFF2-40B4-BE49-F238E27FC236}">
                  <a16:creationId xmlns:a16="http://schemas.microsoft.com/office/drawing/2014/main" id="{007C2C47-52C8-F5E6-A1EE-24654F87379E}"/>
                </a:ext>
              </a:extLst>
            </p:cNvPr>
            <p:cNvSpPr/>
            <p:nvPr/>
          </p:nvSpPr>
          <p:spPr>
            <a:xfrm rot="-5400000">
              <a:off x="4502812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8692;p58">
              <a:extLst>
                <a:ext uri="{FF2B5EF4-FFF2-40B4-BE49-F238E27FC236}">
                  <a16:creationId xmlns:a16="http://schemas.microsoft.com/office/drawing/2014/main" id="{7F7B497B-596F-28AB-427F-EA5B127BAE6A}"/>
                </a:ext>
              </a:extLst>
            </p:cNvPr>
            <p:cNvSpPr/>
            <p:nvPr/>
          </p:nvSpPr>
          <p:spPr>
            <a:xfrm rot="-5400000">
              <a:off x="4762021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693;p58">
              <a:extLst>
                <a:ext uri="{FF2B5EF4-FFF2-40B4-BE49-F238E27FC236}">
                  <a16:creationId xmlns:a16="http://schemas.microsoft.com/office/drawing/2014/main" id="{49E3C802-DEC0-48AF-DFB6-E48CA635172C}"/>
                </a:ext>
              </a:extLst>
            </p:cNvPr>
            <p:cNvSpPr/>
            <p:nvPr/>
          </p:nvSpPr>
          <p:spPr>
            <a:xfrm rot="-5400000">
              <a:off x="3465975" y="2270305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8694;p58">
              <a:extLst>
                <a:ext uri="{FF2B5EF4-FFF2-40B4-BE49-F238E27FC236}">
                  <a16:creationId xmlns:a16="http://schemas.microsoft.com/office/drawing/2014/main" id="{A10EFA2C-0DF7-CEA3-4DBC-893FC81C823B}"/>
                </a:ext>
              </a:extLst>
            </p:cNvPr>
            <p:cNvSpPr/>
            <p:nvPr/>
          </p:nvSpPr>
          <p:spPr>
            <a:xfrm rot="-5400000">
              <a:off x="5021230" y="2270276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695;p58">
              <a:extLst>
                <a:ext uri="{FF2B5EF4-FFF2-40B4-BE49-F238E27FC236}">
                  <a16:creationId xmlns:a16="http://schemas.microsoft.com/office/drawing/2014/main" id="{268A9D54-D7E4-C019-D98B-4274F2A9F0A7}"/>
                </a:ext>
              </a:extLst>
            </p:cNvPr>
            <p:cNvSpPr/>
            <p:nvPr/>
          </p:nvSpPr>
          <p:spPr>
            <a:xfrm rot="-5400000">
              <a:off x="5280440" y="2270276"/>
              <a:ext cx="171900" cy="171900"/>
            </a:xfrm>
            <a:prstGeom prst="ellipse">
              <a:avLst/>
            </a:prstGeom>
            <a:solidFill>
              <a:schemeClr val="tx2"/>
            </a:solidFill>
            <a:ln w="31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0" name="Google Shape;526;p28">
            <a:extLst>
              <a:ext uri="{FF2B5EF4-FFF2-40B4-BE49-F238E27FC236}">
                <a16:creationId xmlns:a16="http://schemas.microsoft.com/office/drawing/2014/main" id="{451696C5-644B-E567-61B8-8DE8A39587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0320" y="135896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01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6" name="Google Shape;532;p28">
            <a:extLst>
              <a:ext uri="{FF2B5EF4-FFF2-40B4-BE49-F238E27FC236}">
                <a16:creationId xmlns:a16="http://schemas.microsoft.com/office/drawing/2014/main" id="{EB4C32A9-012E-199E-4DCC-CB585B3D0A3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40320" y="179055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Внедрить </a:t>
            </a:r>
            <a:r>
              <a:rPr lang="ru-RU" sz="1400" dirty="0" err="1"/>
              <a:t>Idempotency</a:t>
            </a:r>
            <a:r>
              <a:rPr lang="ru-RU" sz="1400" dirty="0"/>
              <a:t>-Key для создания заказа</a:t>
            </a:r>
            <a:endParaRPr sz="1400" dirty="0"/>
          </a:p>
        </p:txBody>
      </p:sp>
      <p:sp>
        <p:nvSpPr>
          <p:cNvPr id="32" name="Google Shape;526;p28">
            <a:extLst>
              <a:ext uri="{FF2B5EF4-FFF2-40B4-BE49-F238E27FC236}">
                <a16:creationId xmlns:a16="http://schemas.microsoft.com/office/drawing/2014/main" id="{B60B1A29-D588-C9BD-4B27-10353AAAF0CB}"/>
              </a:ext>
            </a:extLst>
          </p:cNvPr>
          <p:cNvSpPr txBox="1">
            <a:spLocks/>
          </p:cNvSpPr>
          <p:nvPr/>
        </p:nvSpPr>
        <p:spPr>
          <a:xfrm>
            <a:off x="740319" y="2603563"/>
            <a:ext cx="839581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ybody"/>
              <a:buNone/>
              <a:defRPr sz="36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algn="l"/>
            <a:r>
              <a:rPr lang="en" dirty="0">
                <a:solidFill>
                  <a:schemeClr val="tx2"/>
                </a:solidFill>
              </a:rPr>
              <a:t>0</a:t>
            </a:r>
            <a:r>
              <a:rPr lang="ru-RU" dirty="0">
                <a:solidFill>
                  <a:schemeClr val="tx2"/>
                </a:solidFill>
              </a:rPr>
              <a:t>4</a:t>
            </a:r>
            <a:endParaRPr lang="en" dirty="0">
              <a:solidFill>
                <a:schemeClr val="tx2"/>
              </a:solidFill>
            </a:endParaRPr>
          </a:p>
        </p:txBody>
      </p:sp>
      <p:sp>
        <p:nvSpPr>
          <p:cNvPr id="33" name="Google Shape;532;p28">
            <a:extLst>
              <a:ext uri="{FF2B5EF4-FFF2-40B4-BE49-F238E27FC236}">
                <a16:creationId xmlns:a16="http://schemas.microsoft.com/office/drawing/2014/main" id="{01D04A58-2DFE-97C7-6884-363845DF89D0}"/>
              </a:ext>
            </a:extLst>
          </p:cNvPr>
          <p:cNvSpPr txBox="1">
            <a:spLocks/>
          </p:cNvSpPr>
          <p:nvPr/>
        </p:nvSpPr>
        <p:spPr>
          <a:xfrm>
            <a:off x="740320" y="3035155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6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 algn="l"/>
            <a:r>
              <a:rPr lang="ru-RU" sz="1400" dirty="0"/>
              <a:t>Добавить поддержку TASKING и MONITORING</a:t>
            </a:r>
          </a:p>
        </p:txBody>
      </p:sp>
      <p:sp>
        <p:nvSpPr>
          <p:cNvPr id="34" name="Google Shape;526;p28">
            <a:extLst>
              <a:ext uri="{FF2B5EF4-FFF2-40B4-BE49-F238E27FC236}">
                <a16:creationId xmlns:a16="http://schemas.microsoft.com/office/drawing/2014/main" id="{5D26DD44-99B2-7B6D-4D38-CDB54D89AB26}"/>
              </a:ext>
            </a:extLst>
          </p:cNvPr>
          <p:cNvSpPr txBox="1">
            <a:spLocks/>
          </p:cNvSpPr>
          <p:nvPr/>
        </p:nvSpPr>
        <p:spPr>
          <a:xfrm>
            <a:off x="3150700" y="1322542"/>
            <a:ext cx="1218099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ybody"/>
              <a:buNone/>
              <a:defRPr sz="36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algn="l"/>
            <a:r>
              <a:rPr lang="en" dirty="0">
                <a:solidFill>
                  <a:schemeClr val="tx2"/>
                </a:solidFill>
              </a:rPr>
              <a:t>0</a:t>
            </a:r>
            <a:r>
              <a:rPr lang="ru-RU" dirty="0">
                <a:solidFill>
                  <a:schemeClr val="tx2"/>
                </a:solidFill>
              </a:rPr>
              <a:t>2</a:t>
            </a:r>
            <a:endParaRPr lang="en" dirty="0">
              <a:solidFill>
                <a:schemeClr val="tx2"/>
              </a:solidFill>
            </a:endParaRPr>
          </a:p>
        </p:txBody>
      </p:sp>
      <p:sp>
        <p:nvSpPr>
          <p:cNvPr id="35" name="Google Shape;532;p28">
            <a:extLst>
              <a:ext uri="{FF2B5EF4-FFF2-40B4-BE49-F238E27FC236}">
                <a16:creationId xmlns:a16="http://schemas.microsoft.com/office/drawing/2014/main" id="{130D4A62-7904-91D6-AB91-BFB77DB4A5DD}"/>
              </a:ext>
            </a:extLst>
          </p:cNvPr>
          <p:cNvSpPr txBox="1">
            <a:spLocks/>
          </p:cNvSpPr>
          <p:nvPr/>
        </p:nvSpPr>
        <p:spPr>
          <a:xfrm>
            <a:off x="3150701" y="1754134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6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 algn="l"/>
            <a:r>
              <a:rPr lang="ru-RU" sz="1400" dirty="0"/>
              <a:t>Добавить </a:t>
            </a:r>
            <a:r>
              <a:rPr lang="en-US" sz="1400" dirty="0"/>
              <a:t>Rate Limiting</a:t>
            </a:r>
            <a:endParaRPr lang="ru-RU" sz="1400" dirty="0"/>
          </a:p>
        </p:txBody>
      </p:sp>
      <p:sp>
        <p:nvSpPr>
          <p:cNvPr id="36" name="Google Shape;526;p28">
            <a:extLst>
              <a:ext uri="{FF2B5EF4-FFF2-40B4-BE49-F238E27FC236}">
                <a16:creationId xmlns:a16="http://schemas.microsoft.com/office/drawing/2014/main" id="{B76E0D68-07BE-D908-32F6-27B984E3CAF1}"/>
              </a:ext>
            </a:extLst>
          </p:cNvPr>
          <p:cNvSpPr txBox="1">
            <a:spLocks/>
          </p:cNvSpPr>
          <p:nvPr/>
        </p:nvSpPr>
        <p:spPr>
          <a:xfrm>
            <a:off x="3150700" y="2567142"/>
            <a:ext cx="988651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ybody"/>
              <a:buNone/>
              <a:defRPr sz="36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algn="l"/>
            <a:r>
              <a:rPr lang="en" dirty="0">
                <a:solidFill>
                  <a:schemeClr val="tx2"/>
                </a:solidFill>
              </a:rPr>
              <a:t>0</a:t>
            </a:r>
            <a:r>
              <a:rPr lang="ru-RU" dirty="0">
                <a:solidFill>
                  <a:schemeClr val="tx2"/>
                </a:solidFill>
              </a:rPr>
              <a:t>5</a:t>
            </a:r>
            <a:endParaRPr lang="en" dirty="0">
              <a:solidFill>
                <a:schemeClr val="tx2"/>
              </a:solidFill>
            </a:endParaRPr>
          </a:p>
        </p:txBody>
      </p:sp>
      <p:sp>
        <p:nvSpPr>
          <p:cNvPr id="37" name="Google Shape;532;p28">
            <a:extLst>
              <a:ext uri="{FF2B5EF4-FFF2-40B4-BE49-F238E27FC236}">
                <a16:creationId xmlns:a16="http://schemas.microsoft.com/office/drawing/2014/main" id="{78F2B423-0257-44D8-A9B3-50E1335609B6}"/>
              </a:ext>
            </a:extLst>
          </p:cNvPr>
          <p:cNvSpPr txBox="1">
            <a:spLocks/>
          </p:cNvSpPr>
          <p:nvPr/>
        </p:nvSpPr>
        <p:spPr>
          <a:xfrm>
            <a:off x="3150701" y="2998734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6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 algn="l"/>
            <a:r>
              <a:rPr lang="ru-RU" sz="1400" dirty="0"/>
              <a:t>Реализовать </a:t>
            </a:r>
            <a:r>
              <a:rPr lang="en-US" sz="1400" dirty="0"/>
              <a:t>GUI</a:t>
            </a:r>
            <a:endParaRPr lang="ru-RU" sz="1400" dirty="0"/>
          </a:p>
        </p:txBody>
      </p:sp>
      <p:sp>
        <p:nvSpPr>
          <p:cNvPr id="38" name="Google Shape;526;p28">
            <a:extLst>
              <a:ext uri="{FF2B5EF4-FFF2-40B4-BE49-F238E27FC236}">
                <a16:creationId xmlns:a16="http://schemas.microsoft.com/office/drawing/2014/main" id="{B805EA90-A54F-BA0B-A00B-DFF8CFC68B04}"/>
              </a:ext>
            </a:extLst>
          </p:cNvPr>
          <p:cNvSpPr txBox="1">
            <a:spLocks/>
          </p:cNvSpPr>
          <p:nvPr/>
        </p:nvSpPr>
        <p:spPr>
          <a:xfrm>
            <a:off x="5561082" y="1322542"/>
            <a:ext cx="103275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ybody"/>
              <a:buNone/>
              <a:defRPr sz="36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algn="l"/>
            <a:r>
              <a:rPr lang="en" dirty="0">
                <a:solidFill>
                  <a:schemeClr val="tx2"/>
                </a:solidFill>
              </a:rPr>
              <a:t>0</a:t>
            </a:r>
            <a:r>
              <a:rPr lang="ru-RU" dirty="0">
                <a:solidFill>
                  <a:schemeClr val="tx2"/>
                </a:solidFill>
              </a:rPr>
              <a:t>3</a:t>
            </a:r>
            <a:endParaRPr lang="en" dirty="0">
              <a:solidFill>
                <a:schemeClr val="tx2"/>
              </a:solidFill>
            </a:endParaRPr>
          </a:p>
        </p:txBody>
      </p:sp>
      <p:sp>
        <p:nvSpPr>
          <p:cNvPr id="39" name="Google Shape;532;p28">
            <a:extLst>
              <a:ext uri="{FF2B5EF4-FFF2-40B4-BE49-F238E27FC236}">
                <a16:creationId xmlns:a16="http://schemas.microsoft.com/office/drawing/2014/main" id="{09173AB0-4CE4-777C-172F-D896F0585822}"/>
              </a:ext>
            </a:extLst>
          </p:cNvPr>
          <p:cNvSpPr txBox="1">
            <a:spLocks/>
          </p:cNvSpPr>
          <p:nvPr/>
        </p:nvSpPr>
        <p:spPr>
          <a:xfrm>
            <a:off x="5561082" y="1754134"/>
            <a:ext cx="2724398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6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 algn="l"/>
            <a:r>
              <a:rPr lang="ru-RU" sz="1400" dirty="0"/>
              <a:t>Заменить перехват </a:t>
            </a:r>
            <a:r>
              <a:rPr lang="ru-RU" sz="1400" dirty="0" err="1"/>
              <a:t>Exception</a:t>
            </a:r>
            <a:r>
              <a:rPr lang="ru-RU" sz="1400" dirty="0"/>
              <a:t> на конкретные исключения</a:t>
            </a:r>
          </a:p>
        </p:txBody>
      </p:sp>
      <p:sp>
        <p:nvSpPr>
          <p:cNvPr id="40" name="Google Shape;526;p28">
            <a:extLst>
              <a:ext uri="{FF2B5EF4-FFF2-40B4-BE49-F238E27FC236}">
                <a16:creationId xmlns:a16="http://schemas.microsoft.com/office/drawing/2014/main" id="{8E4AF43F-E8DD-FC64-27EE-106BC97A7FED}"/>
              </a:ext>
            </a:extLst>
          </p:cNvPr>
          <p:cNvSpPr txBox="1">
            <a:spLocks/>
          </p:cNvSpPr>
          <p:nvPr/>
        </p:nvSpPr>
        <p:spPr>
          <a:xfrm>
            <a:off x="5561082" y="2567142"/>
            <a:ext cx="89051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ybody"/>
              <a:buNone/>
              <a:defRPr sz="36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algn="l"/>
            <a:r>
              <a:rPr lang="en" dirty="0">
                <a:solidFill>
                  <a:schemeClr val="tx2"/>
                </a:solidFill>
              </a:rPr>
              <a:t>0</a:t>
            </a:r>
            <a:r>
              <a:rPr lang="ru-RU" dirty="0">
                <a:solidFill>
                  <a:schemeClr val="tx2"/>
                </a:solidFill>
              </a:rPr>
              <a:t>6</a:t>
            </a:r>
            <a:endParaRPr lang="en" dirty="0">
              <a:solidFill>
                <a:schemeClr val="tx2"/>
              </a:solidFill>
            </a:endParaRPr>
          </a:p>
        </p:txBody>
      </p:sp>
      <p:sp>
        <p:nvSpPr>
          <p:cNvPr id="41" name="Google Shape;532;p28">
            <a:extLst>
              <a:ext uri="{FF2B5EF4-FFF2-40B4-BE49-F238E27FC236}">
                <a16:creationId xmlns:a16="http://schemas.microsoft.com/office/drawing/2014/main" id="{C9FDBF4A-C8EB-682A-4848-17410B9E8544}"/>
              </a:ext>
            </a:extLst>
          </p:cNvPr>
          <p:cNvSpPr txBox="1">
            <a:spLocks/>
          </p:cNvSpPr>
          <p:nvPr/>
        </p:nvSpPr>
        <p:spPr>
          <a:xfrm>
            <a:off x="5561082" y="2998734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6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 algn="l"/>
            <a:r>
              <a:rPr lang="ru-RU" sz="1400" dirty="0"/>
              <a:t>Настроить мониторинг (</a:t>
            </a:r>
            <a:r>
              <a:rPr lang="en-US" sz="1400" dirty="0"/>
              <a:t>Prometheus + Grafana)</a:t>
            </a:r>
            <a:endParaRPr lang="ru-RU" sz="1400" dirty="0"/>
          </a:p>
        </p:txBody>
      </p:sp>
      <p:sp>
        <p:nvSpPr>
          <p:cNvPr id="42" name="Google Shape;526;p28">
            <a:extLst>
              <a:ext uri="{FF2B5EF4-FFF2-40B4-BE49-F238E27FC236}">
                <a16:creationId xmlns:a16="http://schemas.microsoft.com/office/drawing/2014/main" id="{64AF4019-8B66-1497-5603-354FF635C9B3}"/>
              </a:ext>
            </a:extLst>
          </p:cNvPr>
          <p:cNvSpPr txBox="1">
            <a:spLocks/>
          </p:cNvSpPr>
          <p:nvPr/>
        </p:nvSpPr>
        <p:spPr>
          <a:xfrm>
            <a:off x="5561082" y="3749634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ybody"/>
              <a:buNone/>
              <a:defRPr sz="36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algn="l"/>
            <a:r>
              <a:rPr lang="en" dirty="0">
                <a:solidFill>
                  <a:schemeClr val="tx2"/>
                </a:solidFill>
              </a:rPr>
              <a:t>0</a:t>
            </a:r>
            <a:r>
              <a:rPr lang="ru-RU" dirty="0">
                <a:solidFill>
                  <a:schemeClr val="tx2"/>
                </a:solidFill>
              </a:rPr>
              <a:t>7</a:t>
            </a:r>
            <a:endParaRPr lang="en" dirty="0">
              <a:solidFill>
                <a:schemeClr val="tx2"/>
              </a:solidFill>
            </a:endParaRPr>
          </a:p>
        </p:txBody>
      </p:sp>
      <p:sp>
        <p:nvSpPr>
          <p:cNvPr id="43" name="Google Shape;532;p28">
            <a:extLst>
              <a:ext uri="{FF2B5EF4-FFF2-40B4-BE49-F238E27FC236}">
                <a16:creationId xmlns:a16="http://schemas.microsoft.com/office/drawing/2014/main" id="{2AB6BD2F-6631-D063-2D87-9B351DFD7CB3}"/>
              </a:ext>
            </a:extLst>
          </p:cNvPr>
          <p:cNvSpPr txBox="1">
            <a:spLocks/>
          </p:cNvSpPr>
          <p:nvPr/>
        </p:nvSpPr>
        <p:spPr>
          <a:xfrm>
            <a:off x="5561082" y="4106811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6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None/>
              <a:defRPr sz="1200" b="0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 algn="l"/>
            <a:r>
              <a:rPr lang="ru-RU" sz="1400" dirty="0"/>
              <a:t>Добавить аутентификацию</a:t>
            </a:r>
          </a:p>
        </p:txBody>
      </p:sp>
      <p:grpSp>
        <p:nvGrpSpPr>
          <p:cNvPr id="44" name="Google Shape;10289;p61">
            <a:extLst>
              <a:ext uri="{FF2B5EF4-FFF2-40B4-BE49-F238E27FC236}">
                <a16:creationId xmlns:a16="http://schemas.microsoft.com/office/drawing/2014/main" id="{0FAA2D45-7BA4-1FE5-B98A-C6760C6BB55E}"/>
              </a:ext>
            </a:extLst>
          </p:cNvPr>
          <p:cNvGrpSpPr/>
          <p:nvPr/>
        </p:nvGrpSpPr>
        <p:grpSpPr>
          <a:xfrm rot="554523">
            <a:off x="6999612" y="3367561"/>
            <a:ext cx="1989191" cy="1958208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45" name="Google Shape;10290;p61">
              <a:extLst>
                <a:ext uri="{FF2B5EF4-FFF2-40B4-BE49-F238E27FC236}">
                  <a16:creationId xmlns:a16="http://schemas.microsoft.com/office/drawing/2014/main" id="{03385A2E-3DE8-5CE0-549B-67D5206F8622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6" name="Google Shape;10291;p61">
              <a:extLst>
                <a:ext uri="{FF2B5EF4-FFF2-40B4-BE49-F238E27FC236}">
                  <a16:creationId xmlns:a16="http://schemas.microsoft.com/office/drawing/2014/main" id="{EF7F7FD9-079E-C98A-5BF7-08D7053A46A6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7" name="Google Shape;10292;p61">
              <a:extLst>
                <a:ext uri="{FF2B5EF4-FFF2-40B4-BE49-F238E27FC236}">
                  <a16:creationId xmlns:a16="http://schemas.microsoft.com/office/drawing/2014/main" id="{EB87BFC8-28DF-62EC-8BAE-5AE6B53EF21A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8" name="Google Shape;10293;p61">
              <a:extLst>
                <a:ext uri="{FF2B5EF4-FFF2-40B4-BE49-F238E27FC236}">
                  <a16:creationId xmlns:a16="http://schemas.microsoft.com/office/drawing/2014/main" id="{AC3CFE9C-0299-87C3-9E36-07A23AB04C91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49" name="Google Shape;10294;p61">
              <a:extLst>
                <a:ext uri="{FF2B5EF4-FFF2-40B4-BE49-F238E27FC236}">
                  <a16:creationId xmlns:a16="http://schemas.microsoft.com/office/drawing/2014/main" id="{296B5019-B927-41A6-AEAE-9F1FB6C6B5A1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4233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5">
            <a:extLst>
              <a:ext uri="{FF2B5EF4-FFF2-40B4-BE49-F238E27FC236}">
                <a16:creationId xmlns:a16="http://schemas.microsoft.com/office/drawing/2014/main" id="{3A125746-FDAD-14F4-4FBC-EB1847E2B26D}"/>
              </a:ext>
            </a:extLst>
          </p:cNvPr>
          <p:cNvSpPr txBox="1">
            <a:spLocks/>
          </p:cNvSpPr>
          <p:nvPr/>
        </p:nvSpPr>
        <p:spPr>
          <a:xfrm>
            <a:off x="1204780" y="467342"/>
            <a:ext cx="48810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ru-RU" sz="2000" dirty="0">
                <a:solidFill>
                  <a:schemeClr val="tx2"/>
                </a:solidFill>
              </a:rPr>
              <a:t>ЗАКЛЮЧЕНИЕ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8CD62A-1E2C-3E50-A5EB-312EECD1F60D}"/>
              </a:ext>
            </a:extLst>
          </p:cNvPr>
          <p:cNvSpPr txBox="1"/>
          <p:nvPr/>
        </p:nvSpPr>
        <p:spPr>
          <a:xfrm>
            <a:off x="660400" y="1341914"/>
            <a:ext cx="7462520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Разработана микросервисная платформа </a:t>
            </a:r>
            <a:r>
              <a:rPr lang="ru-RU" dirty="0" err="1"/>
              <a:t>OrbitaMarket</a:t>
            </a:r>
            <a:r>
              <a:rPr lang="ru-RU" dirty="0"/>
              <a:t> с полным циклом заказа и оплаты.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Реализован надежный асинхронный механизм оплаты через </a:t>
            </a:r>
            <a:r>
              <a:rPr lang="ru-RU" dirty="0" err="1"/>
              <a:t>Kafka</a:t>
            </a:r>
            <a:r>
              <a:rPr lang="ru-RU" dirty="0"/>
              <a:t> с защитой от дублирования.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Проведено тестирование (</a:t>
            </a:r>
            <a:r>
              <a:rPr lang="ru-RU" dirty="0" err="1"/>
              <a:t>Allure</a:t>
            </a:r>
            <a:r>
              <a:rPr lang="ru-RU" dirty="0"/>
              <a:t>) и анализ безопасности (</a:t>
            </a:r>
            <a:r>
              <a:rPr lang="ru-RU" dirty="0" err="1"/>
              <a:t>Gitleaks</a:t>
            </a:r>
            <a:r>
              <a:rPr lang="ru-RU" dirty="0"/>
              <a:t> + </a:t>
            </a:r>
            <a:r>
              <a:rPr lang="ru-RU" dirty="0" err="1"/>
              <a:t>Semgrep</a:t>
            </a:r>
            <a:r>
              <a:rPr lang="ru-RU" dirty="0"/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Проект готов к демонстрации и дальнейшему развитию.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B983279-92A5-CB6E-269B-734389430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685" y="3288248"/>
            <a:ext cx="1319530" cy="1319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BD85DA-A3C3-C43B-C782-2E9D64BC8D60}"/>
              </a:ext>
            </a:extLst>
          </p:cNvPr>
          <p:cNvSpPr txBox="1"/>
          <p:nvPr/>
        </p:nvSpPr>
        <p:spPr>
          <a:xfrm>
            <a:off x="6059805" y="4453890"/>
            <a:ext cx="322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chemeClr val="bg1">
                    <a:lumMod val="50000"/>
                  </a:schemeClr>
                </a:solidFill>
              </a:rPr>
              <a:t>https://github.com/Kulikova-A18/Industrial_software_development_akulikova_final_project</a:t>
            </a:r>
            <a:endParaRPr lang="ru-RU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9" name="Google Shape;10289;p61">
            <a:extLst>
              <a:ext uri="{FF2B5EF4-FFF2-40B4-BE49-F238E27FC236}">
                <a16:creationId xmlns:a16="http://schemas.microsoft.com/office/drawing/2014/main" id="{E1CE6706-7AE6-6A09-BF1C-6440338D3315}"/>
              </a:ext>
            </a:extLst>
          </p:cNvPr>
          <p:cNvGrpSpPr/>
          <p:nvPr/>
        </p:nvGrpSpPr>
        <p:grpSpPr>
          <a:xfrm rot="554523">
            <a:off x="569295" y="3061078"/>
            <a:ext cx="302323" cy="297614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10" name="Google Shape;10290;p61">
              <a:extLst>
                <a:ext uri="{FF2B5EF4-FFF2-40B4-BE49-F238E27FC236}">
                  <a16:creationId xmlns:a16="http://schemas.microsoft.com/office/drawing/2014/main" id="{1DE192F1-EEBE-E12F-AABF-550EB1CBF5D7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1" name="Google Shape;10291;p61">
              <a:extLst>
                <a:ext uri="{FF2B5EF4-FFF2-40B4-BE49-F238E27FC236}">
                  <a16:creationId xmlns:a16="http://schemas.microsoft.com/office/drawing/2014/main" id="{7EB2FC30-55AC-99D6-7698-6595BD793134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2" name="Google Shape;10292;p61">
              <a:extLst>
                <a:ext uri="{FF2B5EF4-FFF2-40B4-BE49-F238E27FC236}">
                  <a16:creationId xmlns:a16="http://schemas.microsoft.com/office/drawing/2014/main" id="{F2C5FDDF-7656-B9D8-0FDA-2B3FBDB560F1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3" name="Google Shape;10293;p61">
              <a:extLst>
                <a:ext uri="{FF2B5EF4-FFF2-40B4-BE49-F238E27FC236}">
                  <a16:creationId xmlns:a16="http://schemas.microsoft.com/office/drawing/2014/main" id="{070547B7-23CA-5233-B195-CC7523B6DA59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4" name="Google Shape;10294;p61">
              <a:extLst>
                <a:ext uri="{FF2B5EF4-FFF2-40B4-BE49-F238E27FC236}">
                  <a16:creationId xmlns:a16="http://schemas.microsoft.com/office/drawing/2014/main" id="{7CD7D00E-C843-0CFA-F4E7-4A7EA0343FD6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15" name="Google Shape;10289;p61">
            <a:extLst>
              <a:ext uri="{FF2B5EF4-FFF2-40B4-BE49-F238E27FC236}">
                <a16:creationId xmlns:a16="http://schemas.microsoft.com/office/drawing/2014/main" id="{41225053-7BEA-D81C-5C84-14FE1CA86045}"/>
              </a:ext>
            </a:extLst>
          </p:cNvPr>
          <p:cNvGrpSpPr/>
          <p:nvPr/>
        </p:nvGrpSpPr>
        <p:grpSpPr>
          <a:xfrm rot="554523">
            <a:off x="572675" y="2736492"/>
            <a:ext cx="302323" cy="297614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16" name="Google Shape;10290;p61">
              <a:extLst>
                <a:ext uri="{FF2B5EF4-FFF2-40B4-BE49-F238E27FC236}">
                  <a16:creationId xmlns:a16="http://schemas.microsoft.com/office/drawing/2014/main" id="{03BC70B6-F434-CC9B-36F2-F45C4632014A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7" name="Google Shape;10291;p61">
              <a:extLst>
                <a:ext uri="{FF2B5EF4-FFF2-40B4-BE49-F238E27FC236}">
                  <a16:creationId xmlns:a16="http://schemas.microsoft.com/office/drawing/2014/main" id="{802F80B9-C088-5529-520A-289FEF8198D6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8" name="Google Shape;10292;p61">
              <a:extLst>
                <a:ext uri="{FF2B5EF4-FFF2-40B4-BE49-F238E27FC236}">
                  <a16:creationId xmlns:a16="http://schemas.microsoft.com/office/drawing/2014/main" id="{A7009D21-1D23-EB45-C905-2A3314A5A7E2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9" name="Google Shape;10293;p61">
              <a:extLst>
                <a:ext uri="{FF2B5EF4-FFF2-40B4-BE49-F238E27FC236}">
                  <a16:creationId xmlns:a16="http://schemas.microsoft.com/office/drawing/2014/main" id="{BFBF8929-0C99-DBC4-389B-5F29BEE89CE2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0" name="Google Shape;10294;p61">
              <a:extLst>
                <a:ext uri="{FF2B5EF4-FFF2-40B4-BE49-F238E27FC236}">
                  <a16:creationId xmlns:a16="http://schemas.microsoft.com/office/drawing/2014/main" id="{2741DC03-9217-0A21-4C80-E2BEE6CCEA4C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21" name="Google Shape;10289;p61">
            <a:extLst>
              <a:ext uri="{FF2B5EF4-FFF2-40B4-BE49-F238E27FC236}">
                <a16:creationId xmlns:a16="http://schemas.microsoft.com/office/drawing/2014/main" id="{10213DC5-693D-70E1-BE94-BE44AF4D707A}"/>
              </a:ext>
            </a:extLst>
          </p:cNvPr>
          <p:cNvGrpSpPr/>
          <p:nvPr/>
        </p:nvGrpSpPr>
        <p:grpSpPr>
          <a:xfrm rot="554523">
            <a:off x="569295" y="2099309"/>
            <a:ext cx="302323" cy="297614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22" name="Google Shape;10290;p61">
              <a:extLst>
                <a:ext uri="{FF2B5EF4-FFF2-40B4-BE49-F238E27FC236}">
                  <a16:creationId xmlns:a16="http://schemas.microsoft.com/office/drawing/2014/main" id="{7070923A-8CBE-9F74-5A9B-1CAB6643792C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3" name="Google Shape;10291;p61">
              <a:extLst>
                <a:ext uri="{FF2B5EF4-FFF2-40B4-BE49-F238E27FC236}">
                  <a16:creationId xmlns:a16="http://schemas.microsoft.com/office/drawing/2014/main" id="{872D2313-EEC1-B80D-76A7-7571E562FDDD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4" name="Google Shape;10292;p61">
              <a:extLst>
                <a:ext uri="{FF2B5EF4-FFF2-40B4-BE49-F238E27FC236}">
                  <a16:creationId xmlns:a16="http://schemas.microsoft.com/office/drawing/2014/main" id="{49AD7CEA-4392-5028-4147-449694EFDDE1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5" name="Google Shape;10293;p61">
              <a:extLst>
                <a:ext uri="{FF2B5EF4-FFF2-40B4-BE49-F238E27FC236}">
                  <a16:creationId xmlns:a16="http://schemas.microsoft.com/office/drawing/2014/main" id="{7BF4B803-C695-C60F-B086-FD11E44799A6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6" name="Google Shape;10294;p61">
              <a:extLst>
                <a:ext uri="{FF2B5EF4-FFF2-40B4-BE49-F238E27FC236}">
                  <a16:creationId xmlns:a16="http://schemas.microsoft.com/office/drawing/2014/main" id="{9FC7B7D6-6560-BA63-4038-E8AEEF586C58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27" name="Google Shape;10289;p61">
            <a:extLst>
              <a:ext uri="{FF2B5EF4-FFF2-40B4-BE49-F238E27FC236}">
                <a16:creationId xmlns:a16="http://schemas.microsoft.com/office/drawing/2014/main" id="{B81C208C-B9D5-4A49-7BFB-B1AF2C52F621}"/>
              </a:ext>
            </a:extLst>
          </p:cNvPr>
          <p:cNvGrpSpPr/>
          <p:nvPr/>
        </p:nvGrpSpPr>
        <p:grpSpPr>
          <a:xfrm rot="554523">
            <a:off x="569295" y="1461433"/>
            <a:ext cx="302323" cy="297614"/>
            <a:chOff x="1754279" y="4286593"/>
            <a:chExt cx="351439" cy="345965"/>
          </a:xfrm>
          <a:solidFill>
            <a:schemeClr val="tx2"/>
          </a:solidFill>
        </p:grpSpPr>
        <p:sp>
          <p:nvSpPr>
            <p:cNvPr id="28" name="Google Shape;10290;p61">
              <a:extLst>
                <a:ext uri="{FF2B5EF4-FFF2-40B4-BE49-F238E27FC236}">
                  <a16:creationId xmlns:a16="http://schemas.microsoft.com/office/drawing/2014/main" id="{2E6AB753-D341-A12B-037B-0DF472E7E79B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9" name="Google Shape;10291;p61">
              <a:extLst>
                <a:ext uri="{FF2B5EF4-FFF2-40B4-BE49-F238E27FC236}">
                  <a16:creationId xmlns:a16="http://schemas.microsoft.com/office/drawing/2014/main" id="{7F0AA611-398E-8ABA-3756-F3B35872815E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0" name="Google Shape;10292;p61">
              <a:extLst>
                <a:ext uri="{FF2B5EF4-FFF2-40B4-BE49-F238E27FC236}">
                  <a16:creationId xmlns:a16="http://schemas.microsoft.com/office/drawing/2014/main" id="{3AF71295-A635-8793-2128-4D7792EFF9E8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1" name="Google Shape;10293;p61">
              <a:extLst>
                <a:ext uri="{FF2B5EF4-FFF2-40B4-BE49-F238E27FC236}">
                  <a16:creationId xmlns:a16="http://schemas.microsoft.com/office/drawing/2014/main" id="{7D487EFF-B9C3-9D66-CB31-DF92BD5C9EB6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2" name="Google Shape;10294;p61">
              <a:extLst>
                <a:ext uri="{FF2B5EF4-FFF2-40B4-BE49-F238E27FC236}">
                  <a16:creationId xmlns:a16="http://schemas.microsoft.com/office/drawing/2014/main" id="{6FD5C945-FBCB-7BD9-BCD6-702CF78A6C88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6988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C8BA1-FF03-FB68-4557-961650FEF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2150110"/>
            <a:ext cx="7680959" cy="843280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tx2"/>
                </a:solidFill>
              </a:rPr>
              <a:t>СПАСИБО ЗА ВНИМАНИЕ!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39568-B78C-1477-C8D9-912ECCB6AB85}"/>
              </a:ext>
            </a:extLst>
          </p:cNvPr>
          <p:cNvSpPr txBox="1"/>
          <p:nvPr/>
        </p:nvSpPr>
        <p:spPr>
          <a:xfrm>
            <a:off x="5969000" y="2782570"/>
            <a:ext cx="28636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В данной презентации было 20 </a:t>
            </a:r>
          </a:p>
        </p:txBody>
      </p:sp>
      <p:grpSp>
        <p:nvGrpSpPr>
          <p:cNvPr id="5" name="Google Shape;10289;p61">
            <a:extLst>
              <a:ext uri="{FF2B5EF4-FFF2-40B4-BE49-F238E27FC236}">
                <a16:creationId xmlns:a16="http://schemas.microsoft.com/office/drawing/2014/main" id="{8887D273-C23E-9150-AAD1-674EA92FC14C}"/>
              </a:ext>
            </a:extLst>
          </p:cNvPr>
          <p:cNvGrpSpPr/>
          <p:nvPr/>
        </p:nvGrpSpPr>
        <p:grpSpPr>
          <a:xfrm rot="554523">
            <a:off x="8358494" y="2786533"/>
            <a:ext cx="237096" cy="255655"/>
            <a:chOff x="1754279" y="4286593"/>
            <a:chExt cx="351439" cy="345965"/>
          </a:xfrm>
          <a:solidFill>
            <a:schemeClr val="bg1">
              <a:lumMod val="50000"/>
            </a:schemeClr>
          </a:solidFill>
        </p:grpSpPr>
        <p:sp>
          <p:nvSpPr>
            <p:cNvPr id="6" name="Google Shape;10290;p61">
              <a:extLst>
                <a:ext uri="{FF2B5EF4-FFF2-40B4-BE49-F238E27FC236}">
                  <a16:creationId xmlns:a16="http://schemas.microsoft.com/office/drawing/2014/main" id="{F074D953-33E0-31C0-E23C-757138D77B54}"/>
                </a:ext>
              </a:extLst>
            </p:cNvPr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7" name="Google Shape;10291;p61">
              <a:extLst>
                <a:ext uri="{FF2B5EF4-FFF2-40B4-BE49-F238E27FC236}">
                  <a16:creationId xmlns:a16="http://schemas.microsoft.com/office/drawing/2014/main" id="{BD52CA71-F706-86BE-A0A9-A0135881969E}"/>
                </a:ext>
              </a:extLst>
            </p:cNvPr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8" name="Google Shape;10292;p61">
              <a:extLst>
                <a:ext uri="{FF2B5EF4-FFF2-40B4-BE49-F238E27FC236}">
                  <a16:creationId xmlns:a16="http://schemas.microsoft.com/office/drawing/2014/main" id="{C2E5E9FD-8393-DFB9-19F5-3B2ECEDD0F71}"/>
                </a:ext>
              </a:extLst>
            </p:cNvPr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9" name="Google Shape;10293;p61">
              <a:extLst>
                <a:ext uri="{FF2B5EF4-FFF2-40B4-BE49-F238E27FC236}">
                  <a16:creationId xmlns:a16="http://schemas.microsoft.com/office/drawing/2014/main" id="{04BE01BE-DEA5-1B26-6B51-FBA9A5CE2705}"/>
                </a:ext>
              </a:extLst>
            </p:cNvPr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0" name="Google Shape;10294;p61">
              <a:extLst>
                <a:ext uri="{FF2B5EF4-FFF2-40B4-BE49-F238E27FC236}">
                  <a16:creationId xmlns:a16="http://schemas.microsoft.com/office/drawing/2014/main" id="{F84821FD-D95D-B319-DDAE-9BA40A4021BB}"/>
                </a:ext>
              </a:extLst>
            </p:cNvPr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893690"/>
      </p:ext>
    </p:extLst>
  </p:cSld>
  <p:clrMapOvr>
    <a:masterClrMapping/>
  </p:clrMapOvr>
</p:sld>
</file>

<file path=ppt/theme/theme1.xml><?xml version="1.0" encoding="utf-8"?>
<a:theme xmlns:a="http://schemas.openxmlformats.org/drawingml/2006/main" name="E-commerce Pitch Deck by Slidesgo">
  <a:themeElements>
    <a:clrScheme name="Simple Light">
      <a:dk1>
        <a:srgbClr val="191919"/>
      </a:dk1>
      <a:lt1>
        <a:srgbClr val="F3F3F3"/>
      </a:lt1>
      <a:dk2>
        <a:srgbClr val="FFFFFF"/>
      </a:dk2>
      <a:lt2>
        <a:srgbClr val="2F2FF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684</Words>
  <Application>Microsoft Office PowerPoint</Application>
  <PresentationFormat>Экран (16:9)</PresentationFormat>
  <Paragraphs>151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Anybody</vt:lpstr>
      <vt:lpstr>Consolas</vt:lpstr>
      <vt:lpstr>Wingdings</vt:lpstr>
      <vt:lpstr>Arial</vt:lpstr>
      <vt:lpstr>Cambria Math</vt:lpstr>
      <vt:lpstr>E-commerce Pitch Deck by Slidesgo</vt:lpstr>
      <vt:lpstr>Микросервисная платформа для продажи спутниковых продуктов</vt:lpstr>
      <vt:lpstr>О ПРОЕКТЕ</vt:lpstr>
      <vt:lpstr>О ПРОЕКТЕ</vt:lpstr>
      <vt:lpstr>ОСОБЕННОСТИ РЕАЛИЗАЦИИ</vt:lpstr>
      <vt:lpstr>Презентация PowerPoint</vt:lpstr>
      <vt:lpstr>Презентация PowerPoint</vt:lpstr>
      <vt:lpstr>ВЗАИМОДЕЙСТВИЕ МИКРОСЕРВИСОВ</vt:lpstr>
      <vt:lpstr>Презентация PowerPoint</vt:lpstr>
      <vt:lpstr>Презентация PowerPoint</vt:lpstr>
      <vt:lpstr>Презентация PowerPoint</vt:lpstr>
      <vt:lpstr>01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Алена Куликова</cp:lastModifiedBy>
  <cp:revision>20</cp:revision>
  <dcterms:modified xsi:type="dcterms:W3CDTF">2026-07-05T16:01:39Z</dcterms:modified>
</cp:coreProperties>
</file>